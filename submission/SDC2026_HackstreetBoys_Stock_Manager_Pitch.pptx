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6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067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2-4.svg"/><Relationship Id="rId5" Type="http://schemas.openxmlformats.org/officeDocument/2006/relationships/image" Target="../media/image4.pn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-4-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5-5.svg"/><Relationship Id="rId5" Type="http://schemas.openxmlformats.org/officeDocument/2006/relationships/image" Target="../media/image-5-3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-9-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-9-5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10-6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-10-4.svg"/><Relationship Id="rId5" Type="http://schemas.openxmlformats.org/officeDocument/2006/relationships/image" Target="../media/image15.png"/><Relationship Id="rId4" Type="http://schemas.openxmlformats.org/officeDocument/2006/relationships/image" Target="../media/image-10-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342" y="0"/>
            <a:ext cx="3476625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8082" y="0"/>
            <a:ext cx="57150" cy="5143500"/>
          </a:xfrm>
          <a:prstGeom prst="rect">
            <a:avLst/>
          </a:prstGeom>
          <a:solidFill>
            <a:srgbClr val="F5C244"/>
          </a:solidFill>
          <a:ln/>
        </p:spPr>
      </p:sp>
      <p:sp>
        <p:nvSpPr>
          <p:cNvPr id="5" name="Shape 2"/>
          <p:cNvSpPr/>
          <p:nvPr/>
        </p:nvSpPr>
        <p:spPr>
          <a:xfrm>
            <a:off x="548097" y="410952"/>
            <a:ext cx="366712" cy="366712"/>
          </a:xfrm>
          <a:prstGeom prst="roundRect">
            <a:avLst>
              <a:gd name="adj" fmla="val 19948"/>
            </a:avLst>
          </a:prstGeom>
          <a:solidFill>
            <a:srgbClr val="12705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29" y="484584"/>
            <a:ext cx="219447" cy="2194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012" y="449312"/>
            <a:ext cx="2165851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kern="0" spc="-47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Stock Manager</a:t>
            </a:r>
            <a:endParaRPr lang="en-US" sz="1870" dirty="0"/>
          </a:p>
        </p:txBody>
      </p:sp>
      <p:sp>
        <p:nvSpPr>
          <p:cNvPr id="8" name="Text 4"/>
          <p:cNvSpPr/>
          <p:nvPr/>
        </p:nvSpPr>
        <p:spPr>
          <a:xfrm>
            <a:off x="548580" y="1392510"/>
            <a:ext cx="4482443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40" b="1" kern="0" spc="-94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35 in the system.</a:t>
            </a:r>
            <a:endParaRPr lang="en-US" sz="3740" dirty="0"/>
          </a:p>
        </p:txBody>
      </p:sp>
      <p:sp>
        <p:nvSpPr>
          <p:cNvPr id="9" name="Text 5"/>
          <p:cNvSpPr/>
          <p:nvPr/>
        </p:nvSpPr>
        <p:spPr>
          <a:xfrm>
            <a:off x="548580" y="1877467"/>
            <a:ext cx="4000976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40" b="1" kern="0" spc="-94" dirty="0">
                <a:solidFill>
                  <a:srgbClr val="C2570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28 on the shelf.</a:t>
            </a:r>
            <a:endParaRPr lang="en-US" sz="3740" dirty="0"/>
          </a:p>
        </p:txBody>
      </p:sp>
      <p:sp>
        <p:nvSpPr>
          <p:cNvPr id="10" name="Text 6"/>
          <p:cNvSpPr/>
          <p:nvPr/>
        </p:nvSpPr>
        <p:spPr>
          <a:xfrm>
            <a:off x="548580" y="2630016"/>
            <a:ext cx="46504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51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Stock counts you can trust: a count-and-approval</a:t>
            </a:r>
            <a:endParaRPr lang="en-US" sz="1510" dirty="0"/>
          </a:p>
        </p:txBody>
      </p:sp>
      <p:sp>
        <p:nvSpPr>
          <p:cNvPr id="11" name="Text 7"/>
          <p:cNvSpPr/>
          <p:nvPr/>
        </p:nvSpPr>
        <p:spPr>
          <a:xfrm>
            <a:off x="1332235" y="2893963"/>
            <a:ext cx="41350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0"/>
              </a:spcBef>
              <a:buNone/>
            </a:pPr>
            <a:r>
              <a:rPr lang="en-US" sz="151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workflow for Malaysian micro-shops.</a:t>
            </a:r>
            <a:endParaRPr lang="en-US" sz="1510" dirty="0"/>
          </a:p>
        </p:txBody>
      </p:sp>
      <p:sp>
        <p:nvSpPr>
          <p:cNvPr id="12" name="Text 8"/>
          <p:cNvSpPr/>
          <p:nvPr/>
        </p:nvSpPr>
        <p:spPr>
          <a:xfrm>
            <a:off x="548580" y="4217566"/>
            <a:ext cx="438309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Hackstreet Boys · SDC Hackathon 2026</a:t>
            </a:r>
            <a:endParaRPr lang="en-US" sz="1440" dirty="0"/>
          </a:p>
        </p:txBody>
      </p:sp>
      <p:sp>
        <p:nvSpPr>
          <p:cNvPr id="13" name="Text 9"/>
          <p:cNvSpPr/>
          <p:nvPr/>
        </p:nvSpPr>
        <p:spPr>
          <a:xfrm>
            <a:off x="548580" y="4517975"/>
            <a:ext cx="514181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22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Xiamen University Malaysia · Monash University Malaysia</a:t>
            </a:r>
            <a:endParaRPr lang="en-US" sz="1220" dirty="0"/>
          </a:p>
        </p:txBody>
      </p:sp>
      <p:sp>
        <p:nvSpPr>
          <p:cNvPr id="14" name="Shape 10"/>
          <p:cNvSpPr/>
          <p:nvPr/>
        </p:nvSpPr>
        <p:spPr>
          <a:xfrm>
            <a:off x="5853075" y="3809033"/>
            <a:ext cx="2924175" cy="923925"/>
          </a:xfrm>
          <a:prstGeom prst="roundRect">
            <a:avLst>
              <a:gd name="adj" fmla="val 5938"/>
            </a:avLst>
          </a:prstGeom>
          <a:solidFill>
            <a:srgbClr val="F5C244"/>
          </a:solidFill>
          <a:ln/>
          <a:effectLst>
            <a:outerShdw blurRad="71438" dist="47625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40576" y="3912840"/>
            <a:ext cx="109537" cy="109537"/>
          </a:xfrm>
          <a:prstGeom prst="ellipse">
            <a:avLst/>
          </a:prstGeom>
          <a:solidFill>
            <a:srgbClr val="102C24">
              <a:alpha val="25098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5998443" y="3931816"/>
            <a:ext cx="1870993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b="1" kern="0" spc="108" dirty="0">
                <a:solidFill>
                  <a:srgbClr val="474F2A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DOMAIN 2 · SDG 8</a:t>
            </a:r>
            <a:endParaRPr lang="en-US" sz="1080" dirty="0"/>
          </a:p>
        </p:txBody>
      </p:sp>
      <p:sp>
        <p:nvSpPr>
          <p:cNvPr id="17" name="Text 13"/>
          <p:cNvSpPr/>
          <p:nvPr/>
        </p:nvSpPr>
        <p:spPr>
          <a:xfrm>
            <a:off x="5998443" y="4158674"/>
            <a:ext cx="2270715" cy="468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1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Orbyte Smart SME</a:t>
            </a:r>
            <a:endParaRPr lang="en-US" sz="1510" dirty="0"/>
          </a:p>
          <a:p>
            <a:pPr marL="0" indent="0" algn="l">
              <a:lnSpc>
                <a:spcPts val="1890"/>
              </a:lnSpc>
              <a:buNone/>
            </a:pPr>
            <a:r>
              <a:rPr lang="en-US" sz="151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Challenge</a:t>
            </a:r>
            <a:endParaRPr lang="en-US" sz="15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8098"/>
            <a:ext cx="4763661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65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stock-count problem</a:t>
            </a:r>
            <a:endParaRPr lang="en-US" sz="2590" dirty="0"/>
          </a:p>
        </p:txBody>
      </p:sp>
      <p:sp>
        <p:nvSpPr>
          <p:cNvPr id="4" name="Text 2"/>
          <p:cNvSpPr/>
          <p:nvPr/>
        </p:nvSpPr>
        <p:spPr>
          <a:xfrm>
            <a:off x="548580" y="1142033"/>
            <a:ext cx="3422094" cy="1538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080" b="1" kern="0" spc="-252" dirty="0">
                <a:solidFill>
                  <a:srgbClr val="C2570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65%</a:t>
            </a:r>
            <a:endParaRPr lang="en-US" sz="10080" dirty="0"/>
          </a:p>
        </p:txBody>
      </p:sp>
      <p:sp>
        <p:nvSpPr>
          <p:cNvPr id="5" name="Text 3"/>
          <p:cNvSpPr/>
          <p:nvPr/>
        </p:nvSpPr>
        <p:spPr>
          <a:xfrm>
            <a:off x="548580" y="2657921"/>
            <a:ext cx="3469690" cy="568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75"/>
              </a:lnSpc>
              <a:buNone/>
            </a:pPr>
            <a:r>
              <a:rPr lang="en-US" sz="173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of retail inventory records</a:t>
            </a:r>
            <a:endParaRPr lang="en-US" sz="1730" dirty="0"/>
          </a:p>
          <a:p>
            <a:pPr marL="0" indent="0" algn="l">
              <a:lnSpc>
                <a:spcPts val="2375"/>
              </a:lnSpc>
              <a:buNone/>
            </a:pPr>
            <a:r>
              <a:rPr lang="en-US" sz="173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were inaccurate</a:t>
            </a:r>
            <a:endParaRPr lang="en-US" sz="1730" dirty="0"/>
          </a:p>
        </p:txBody>
      </p:sp>
      <p:sp>
        <p:nvSpPr>
          <p:cNvPr id="6" name="Text 4"/>
          <p:cNvSpPr/>
          <p:nvPr/>
        </p:nvSpPr>
        <p:spPr>
          <a:xfrm>
            <a:off x="548580" y="3322216"/>
            <a:ext cx="434343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405"/>
              </a:spcBef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About 370,000 records across 37 stores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4571554" y="1286470"/>
            <a:ext cx="4024312" cy="1057275"/>
          </a:xfrm>
          <a:prstGeom prst="rect">
            <a:avLst/>
          </a:prstGeom>
          <a:ln/>
        </p:spPr>
      </p:sp>
      <p:sp>
        <p:nvSpPr>
          <p:cNvPr id="8" name="Text 6"/>
          <p:cNvSpPr/>
          <p:nvPr/>
        </p:nvSpPr>
        <p:spPr>
          <a:xfrm>
            <a:off x="4572000" y="1247775"/>
            <a:ext cx="1461790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880" b="1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39.5%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4572000" y="1727597"/>
            <a:ext cx="4688108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023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of Malaysia's GDP comes from MSMEs, plus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10231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48.7% of jobs (2024)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571554" y="2345345"/>
            <a:ext cx="4024312" cy="833437"/>
          </a:xfrm>
          <a:prstGeom prst="rect">
            <a:avLst/>
          </a:prstGeom>
          <a:ln/>
        </p:spPr>
      </p:sp>
      <p:sp>
        <p:nvSpPr>
          <p:cNvPr id="11" name="Text 9"/>
          <p:cNvSpPr/>
          <p:nvPr/>
        </p:nvSpPr>
        <p:spPr>
          <a:xfrm>
            <a:off x="4572000" y="2496294"/>
            <a:ext cx="451939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Notebooks, spreadsheets, WhatsApp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4572000" y="2814489"/>
            <a:ext cx="4772464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Counts kept in three places that rarely agree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4572000" y="3331741"/>
            <a:ext cx="1382948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Silent fixes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4572000" y="3649935"/>
            <a:ext cx="5007054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Stock overwritten with no approval and no log,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 staff get blamed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548580" y="4648274"/>
            <a:ext cx="8778009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75827C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Sources: DeHoratius &amp; Raman (2008), Management Science 54(4); DOSM (2025), MSMEs Performance 2024</a:t>
            </a:r>
            <a:endParaRPr lang="en-US" sz="108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571554" y="1286470"/>
            <a:ext cx="4024312" cy="1057275"/>
          </a:xfrm>
          <a:prstGeom prst="rect">
            <a:avLst/>
          </a:prstGeom>
        </p:spPr>
      </p:pic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71554" y="2345345"/>
            <a:ext cx="4024312" cy="8334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8098"/>
            <a:ext cx="5089959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65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How Stock Manager works</a:t>
            </a:r>
            <a:endParaRPr lang="en-US" sz="2590" dirty="0"/>
          </a:p>
        </p:txBody>
      </p:sp>
      <p:sp>
        <p:nvSpPr>
          <p:cNvPr id="4" name="Text 2"/>
          <p:cNvSpPr/>
          <p:nvPr/>
        </p:nvSpPr>
        <p:spPr>
          <a:xfrm>
            <a:off x="548580" y="872430"/>
            <a:ext cx="471567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count ends in a decision and a record.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48580" y="1341090"/>
            <a:ext cx="24143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580" y="1924943"/>
            <a:ext cx="937468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Count</a:t>
            </a:r>
            <a:endParaRPr lang="en-US" sz="1870" dirty="0"/>
          </a:p>
        </p:txBody>
      </p:sp>
      <p:sp>
        <p:nvSpPr>
          <p:cNvPr id="7" name="Text 5"/>
          <p:cNvSpPr/>
          <p:nvPr/>
        </p:nvSpPr>
        <p:spPr>
          <a:xfrm>
            <a:off x="548580" y="2272754"/>
            <a:ext cx="1760711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Clerk enters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 is really on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shelf</a:t>
            </a:r>
            <a:endParaRPr lang="en-US" sz="144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761" y="1594396"/>
            <a:ext cx="274290" cy="13714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438251" y="1341090"/>
            <a:ext cx="38470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2438251" y="1924943"/>
            <a:ext cx="1399297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Compare</a:t>
            </a:r>
            <a:endParaRPr lang="en-US" sz="1870" dirty="0"/>
          </a:p>
        </p:txBody>
      </p:sp>
      <p:sp>
        <p:nvSpPr>
          <p:cNvPr id="11" name="Text 8"/>
          <p:cNvSpPr/>
          <p:nvPr/>
        </p:nvSpPr>
        <p:spPr>
          <a:xfrm>
            <a:off x="2438251" y="2272754"/>
            <a:ext cx="1827170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System vs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counted, in units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and RM</a:t>
            </a:r>
            <a:endParaRPr lang="en-US" sz="144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432" y="1594396"/>
            <a:ext cx="274290" cy="1371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27922" y="1341090"/>
            <a:ext cx="393025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4327922" y="1924943"/>
            <a:ext cx="1057521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Decide</a:t>
            </a:r>
            <a:endParaRPr lang="en-US" sz="1870" dirty="0"/>
          </a:p>
        </p:txBody>
      </p:sp>
      <p:sp>
        <p:nvSpPr>
          <p:cNvPr id="15" name="Shape 11"/>
          <p:cNvSpPr/>
          <p:nvPr/>
        </p:nvSpPr>
        <p:spPr>
          <a:xfrm>
            <a:off x="4328852" y="2309961"/>
            <a:ext cx="2466975" cy="990600"/>
          </a:xfrm>
          <a:prstGeom prst="roundRect">
            <a:avLst>
              <a:gd name="adj" fmla="val 5538"/>
            </a:avLst>
          </a:prstGeom>
          <a:solidFill>
            <a:srgbClr val="12705A"/>
          </a:solidFill>
          <a:ln/>
        </p:spPr>
      </p:sp>
      <p:sp>
        <p:nvSpPr>
          <p:cNvPr id="16" name="Text 12"/>
          <p:cNvSpPr/>
          <p:nvPr/>
        </p:nvSpPr>
        <p:spPr>
          <a:xfrm>
            <a:off x="4474220" y="2412727"/>
            <a:ext cx="241369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Fixed automatically</a:t>
            </a:r>
            <a:endParaRPr lang="en-US" sz="1580" dirty="0"/>
          </a:p>
        </p:txBody>
      </p:sp>
      <p:sp>
        <p:nvSpPr>
          <p:cNvPr id="17" name="Text 13"/>
          <p:cNvSpPr/>
          <p:nvPr/>
        </p:nvSpPr>
        <p:spPr>
          <a:xfrm>
            <a:off x="4474220" y="2709193"/>
            <a:ext cx="2447359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D8E6D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≤2 units, under RM50,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D8E6D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never below zero</a:t>
            </a:r>
            <a:endParaRPr lang="en-US" sz="1440" dirty="0"/>
          </a:p>
        </p:txBody>
      </p:sp>
      <p:sp>
        <p:nvSpPr>
          <p:cNvPr id="18" name="Shape 14"/>
          <p:cNvSpPr/>
          <p:nvPr/>
        </p:nvSpPr>
        <p:spPr>
          <a:xfrm>
            <a:off x="4328852" y="3382938"/>
            <a:ext cx="2466975" cy="990600"/>
          </a:xfrm>
          <a:prstGeom prst="roundRect">
            <a:avLst>
              <a:gd name="adj" fmla="val 5538"/>
            </a:avLst>
          </a:prstGeom>
          <a:solidFill>
            <a:srgbClr val="F5C244"/>
          </a:solidFill>
          <a:ln/>
        </p:spPr>
      </p:sp>
      <p:sp>
        <p:nvSpPr>
          <p:cNvPr id="19" name="Text 15"/>
          <p:cNvSpPr/>
          <p:nvPr/>
        </p:nvSpPr>
        <p:spPr>
          <a:xfrm>
            <a:off x="4474220" y="3485704"/>
            <a:ext cx="187002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Owner decides</a:t>
            </a:r>
            <a:endParaRPr lang="en-US" sz="1580" dirty="0"/>
          </a:p>
        </p:txBody>
      </p:sp>
      <p:sp>
        <p:nvSpPr>
          <p:cNvPr id="20" name="Text 16"/>
          <p:cNvSpPr/>
          <p:nvPr/>
        </p:nvSpPr>
        <p:spPr>
          <a:xfrm>
            <a:off x="4474220" y="3782169"/>
            <a:ext cx="2752665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Anything bigger: approve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or reject, with a note</a:t>
            </a:r>
            <a:endParaRPr lang="en-US" sz="144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2957" y="1594396"/>
            <a:ext cx="274290" cy="13714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447" y="1341090"/>
            <a:ext cx="417984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18"/>
          <p:cNvSpPr/>
          <p:nvPr/>
        </p:nvSpPr>
        <p:spPr>
          <a:xfrm>
            <a:off x="7223447" y="1924943"/>
            <a:ext cx="567638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87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Log</a:t>
            </a:r>
            <a:endParaRPr lang="en-US" sz="1870" dirty="0"/>
          </a:p>
        </p:txBody>
      </p:sp>
      <p:sp>
        <p:nvSpPr>
          <p:cNvPr id="24" name="Text 19"/>
          <p:cNvSpPr/>
          <p:nvPr/>
        </p:nvSpPr>
        <p:spPr>
          <a:xfrm>
            <a:off x="7223447" y="2272754"/>
            <a:ext cx="1306718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step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saved: who,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what, when</a:t>
            </a:r>
            <a:endParaRPr lang="en-US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22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430485"/>
            <a:ext cx="2263750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WHY RULES, NOT AI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580" y="1247775"/>
            <a:ext cx="8996928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890" b="1" kern="0" spc="-97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 owner must be able to predict</a:t>
            </a:r>
            <a:endParaRPr lang="en-US" sz="3890" dirty="0"/>
          </a:p>
        </p:txBody>
      </p:sp>
      <p:sp>
        <p:nvSpPr>
          <p:cNvPr id="5" name="Text 3"/>
          <p:cNvSpPr/>
          <p:nvPr/>
        </p:nvSpPr>
        <p:spPr>
          <a:xfrm>
            <a:off x="548580" y="1766218"/>
            <a:ext cx="8690171" cy="590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890" b="1" kern="0" spc="-97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and explain every stock change.</a:t>
            </a:r>
            <a:endParaRPr lang="en-US" sz="3890" dirty="0"/>
          </a:p>
        </p:txBody>
      </p:sp>
      <p:sp>
        <p:nvSpPr>
          <p:cNvPr id="6" name="Shape 4"/>
          <p:cNvSpPr/>
          <p:nvPr/>
        </p:nvSpPr>
        <p:spPr>
          <a:xfrm>
            <a:off x="547688" y="3562536"/>
            <a:ext cx="8048625" cy="1066800"/>
          </a:xfrm>
          <a:prstGeom prst="rect">
            <a:avLst/>
          </a:prstGeom>
          <a:ln/>
        </p:spPr>
      </p:sp>
      <p:sp>
        <p:nvSpPr>
          <p:cNvPr id="7" name="Text 5"/>
          <p:cNvSpPr/>
          <p:nvPr/>
        </p:nvSpPr>
        <p:spPr>
          <a:xfrm>
            <a:off x="548580" y="3801740"/>
            <a:ext cx="292776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Same input, same result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548580" y="4140547"/>
            <a:ext cx="4850822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CCD1C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Fixed limits anyone can check: 2 units, RM50,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CCD1C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never below zero.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4754835" y="3801740"/>
            <a:ext cx="270894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AI where it adds value</a:t>
            </a:r>
            <a:endParaRPr lang="en-US" sz="1580" dirty="0"/>
          </a:p>
        </p:txBody>
      </p:sp>
      <p:sp>
        <p:nvSpPr>
          <p:cNvPr id="10" name="Text 8"/>
          <p:cNvSpPr/>
          <p:nvPr/>
        </p:nvSpPr>
        <p:spPr>
          <a:xfrm>
            <a:off x="4754835" y="4140547"/>
            <a:ext cx="4870073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CCD1C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Domain 2 asks for exactly that. Ours arrives in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CCD1CD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Phase 2, as advice only.</a:t>
            </a:r>
            <a:endParaRPr lang="en-US" sz="144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47688" y="3562536"/>
            <a:ext cx="8048625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sp>
        <p:nvSpPr>
          <p:cNvPr id="3" name="Shape 1"/>
          <p:cNvSpPr/>
          <p:nvPr/>
        </p:nvSpPr>
        <p:spPr>
          <a:xfrm>
            <a:off x="4938266" y="0"/>
            <a:ext cx="4205288" cy="5143500"/>
          </a:xfrm>
          <a:prstGeom prst="rect">
            <a:avLst/>
          </a:prstGeom>
          <a:solidFill>
            <a:srgbClr val="0E2A22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78098"/>
            <a:ext cx="2746764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65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Live prototype</a:t>
            </a:r>
            <a:endParaRPr lang="en-US" sz="2590" dirty="0"/>
          </a:p>
        </p:txBody>
      </p:sp>
      <p:sp>
        <p:nvSpPr>
          <p:cNvPr id="5" name="Text 3"/>
          <p:cNvSpPr/>
          <p:nvPr/>
        </p:nvSpPr>
        <p:spPr>
          <a:xfrm>
            <a:off x="548580" y="1150590"/>
            <a:ext cx="267662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5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OPEN IT ON ANY PHONE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580" y="1417439"/>
            <a:ext cx="305884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hackstreetboys-stock</a:t>
            </a:r>
            <a:endParaRPr lang="en-US" sz="1730" dirty="0"/>
          </a:p>
        </p:txBody>
      </p:sp>
      <p:sp>
        <p:nvSpPr>
          <p:cNvPr id="7" name="Text 5"/>
          <p:cNvSpPr/>
          <p:nvPr/>
        </p:nvSpPr>
        <p:spPr>
          <a:xfrm>
            <a:off x="548580" y="1691729"/>
            <a:ext cx="374249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.replit.app/stock_manager/</a:t>
            </a:r>
            <a:endParaRPr lang="en-US" sz="1730" dirty="0"/>
          </a:p>
        </p:txBody>
      </p:sp>
      <p:sp>
        <p:nvSpPr>
          <p:cNvPr id="8" name="Shape 6"/>
          <p:cNvSpPr/>
          <p:nvPr/>
        </p:nvSpPr>
        <p:spPr>
          <a:xfrm>
            <a:off x="549511" y="2219213"/>
            <a:ext cx="2924175" cy="647700"/>
          </a:xfrm>
          <a:prstGeom prst="rect">
            <a:avLst/>
          </a:prstGeom>
          <a:ln/>
        </p:spPr>
      </p:sp>
      <p:sp>
        <p:nvSpPr>
          <p:cNvPr id="9" name="Text 7"/>
          <p:cNvSpPr/>
          <p:nvPr/>
        </p:nvSpPr>
        <p:spPr>
          <a:xfrm>
            <a:off x="548580" y="2345085"/>
            <a:ext cx="1353927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5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SHOP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580" y="2594595"/>
            <a:ext cx="162218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Kedai Ah Lee</a:t>
            </a:r>
            <a:endParaRPr lang="en-US" sz="1580" dirty="0"/>
          </a:p>
        </p:txBody>
      </p:sp>
      <p:sp>
        <p:nvSpPr>
          <p:cNvPr id="11" name="Shape 9"/>
          <p:cNvSpPr/>
          <p:nvPr/>
        </p:nvSpPr>
        <p:spPr>
          <a:xfrm>
            <a:off x="549511" y="2971316"/>
            <a:ext cx="2924175" cy="647700"/>
          </a:xfrm>
          <a:prstGeom prst="rect">
            <a:avLst/>
          </a:prstGeom>
          <a:ln/>
        </p:spPr>
      </p:sp>
      <p:sp>
        <p:nvSpPr>
          <p:cNvPr id="12" name="Text 10"/>
          <p:cNvSpPr/>
          <p:nvPr/>
        </p:nvSpPr>
        <p:spPr>
          <a:xfrm>
            <a:off x="548580" y="3097188"/>
            <a:ext cx="87652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15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PEOPLE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580" y="3346698"/>
            <a:ext cx="38152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62"/>
              </a:spcBef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Owner Puan Aisyah · Clerk Ravi</a:t>
            </a:r>
            <a:endParaRPr lang="en-US" sz="1580" dirty="0"/>
          </a:p>
        </p:txBody>
      </p:sp>
      <p:sp>
        <p:nvSpPr>
          <p:cNvPr id="14" name="Text 12"/>
          <p:cNvSpPr/>
          <p:nvPr/>
        </p:nvSpPr>
        <p:spPr>
          <a:xfrm>
            <a:off x="548580" y="3783583"/>
            <a:ext cx="3816883" cy="426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0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Synthetic data. Logins and Orbyte sync</a:t>
            </a:r>
            <a:endParaRPr lang="en-US" sz="1300" dirty="0"/>
          </a:p>
          <a:p>
            <a:pPr marL="0" indent="0" algn="l">
              <a:lnSpc>
                <a:spcPts val="1782"/>
              </a:lnSpc>
              <a:buNone/>
            </a:pPr>
            <a:r>
              <a:rPr lang="en-US" sz="130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are simulated.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427" y="1131019"/>
            <a:ext cx="5119688" cy="2881313"/>
          </a:xfrm>
          <a:prstGeom prst="roundRect">
            <a:avLst>
              <a:gd name="adj" fmla="val 2539"/>
            </a:avLst>
          </a:prstGeom>
          <a:ln/>
          <a:effectLst>
            <a:outerShdw blurRad="238125" dist="119063" dir="54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427" y="1131019"/>
            <a:ext cx="5119688" cy="288131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580" y="4596854"/>
            <a:ext cx="2263944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F8F9F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Owner dashboard, live build</a:t>
            </a:r>
            <a:endParaRPr lang="en-US" sz="108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49511" y="2219213"/>
            <a:ext cx="2924175" cy="64770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49511" y="2971316"/>
            <a:ext cx="2924175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8098"/>
            <a:ext cx="4126446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65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Built-in accountability</a:t>
            </a:r>
            <a:endParaRPr lang="en-US" sz="2590" dirty="0"/>
          </a:p>
        </p:txBody>
      </p:sp>
      <p:sp>
        <p:nvSpPr>
          <p:cNvPr id="4" name="Text 2"/>
          <p:cNvSpPr/>
          <p:nvPr/>
        </p:nvSpPr>
        <p:spPr>
          <a:xfrm>
            <a:off x="548580" y="872430"/>
            <a:ext cx="575493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number can be traced to a person and a reason.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549511" y="1749661"/>
            <a:ext cx="638175" cy="638175"/>
          </a:xfrm>
          <a:prstGeom prst="roundRect">
            <a:avLst>
              <a:gd name="adj" fmla="val 14328"/>
            </a:avLst>
          </a:prstGeom>
          <a:solidFill>
            <a:srgbClr val="146C58">
              <a:alpha val="10196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31" y="1904181"/>
            <a:ext cx="329133" cy="329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580" y="2535064"/>
            <a:ext cx="1816432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377"/>
              </a:spcBef>
              <a:buNone/>
            </a:pPr>
            <a:r>
              <a:rPr lang="en-US" sz="202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Activity log</a:t>
            </a:r>
            <a:endParaRPr lang="en-US" sz="2020" dirty="0"/>
          </a:p>
        </p:txBody>
      </p:sp>
      <p:sp>
        <p:nvSpPr>
          <p:cNvPr id="8" name="Text 5"/>
          <p:cNvSpPr/>
          <p:nvPr/>
        </p:nvSpPr>
        <p:spPr>
          <a:xfrm>
            <a:off x="548580" y="2916213"/>
            <a:ext cx="2927858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Who changed what, when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and why. Entries cannot be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edited. Export to CSV.</a:t>
            </a:r>
            <a:endParaRPr lang="en-US" sz="1440" dirty="0"/>
          </a:p>
        </p:txBody>
      </p:sp>
      <p:sp>
        <p:nvSpPr>
          <p:cNvPr id="9" name="Shape 6"/>
          <p:cNvSpPr/>
          <p:nvPr/>
        </p:nvSpPr>
        <p:spPr>
          <a:xfrm>
            <a:off x="3353656" y="1749661"/>
            <a:ext cx="638175" cy="638175"/>
          </a:xfrm>
          <a:prstGeom prst="roundRect">
            <a:avLst>
              <a:gd name="adj" fmla="val 14328"/>
            </a:avLst>
          </a:prstGeom>
          <a:solidFill>
            <a:srgbClr val="146C58">
              <a:alpha val="10196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8177" y="1904181"/>
            <a:ext cx="329133" cy="3291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52726" y="2535064"/>
            <a:ext cx="3209657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377"/>
              </a:spcBef>
              <a:buNone/>
            </a:pPr>
            <a:r>
              <a:rPr lang="en-US" sz="202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Spreadsheet import</a:t>
            </a:r>
            <a:endParaRPr lang="en-US" sz="2020" dirty="0"/>
          </a:p>
        </p:txBody>
      </p:sp>
      <p:sp>
        <p:nvSpPr>
          <p:cNvPr id="12" name="Text 8"/>
          <p:cNvSpPr/>
          <p:nvPr/>
        </p:nvSpPr>
        <p:spPr>
          <a:xfrm>
            <a:off x="3352726" y="2916213"/>
            <a:ext cx="3173380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CSV or XLSX. A preview flags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bad rows first. All rows or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none; nothing overwritten.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6157875" y="1749661"/>
            <a:ext cx="638175" cy="638175"/>
          </a:xfrm>
          <a:prstGeom prst="roundRect">
            <a:avLst>
              <a:gd name="adj" fmla="val 14328"/>
            </a:avLst>
          </a:prstGeom>
          <a:solidFill>
            <a:srgbClr val="146C58">
              <a:alpha val="10196"/>
            </a:srgbClr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396" y="1904181"/>
            <a:ext cx="329133" cy="3291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56945" y="2535064"/>
            <a:ext cx="2387478" cy="3095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377"/>
              </a:spcBef>
              <a:buNone/>
            </a:pPr>
            <a:r>
              <a:rPr lang="en-US" sz="202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Sync to Orbyte</a:t>
            </a:r>
            <a:endParaRPr lang="en-US" sz="2020" dirty="0"/>
          </a:p>
        </p:txBody>
      </p:sp>
      <p:sp>
        <p:nvSpPr>
          <p:cNvPr id="16" name="Text 11"/>
          <p:cNvSpPr/>
          <p:nvPr/>
        </p:nvSpPr>
        <p:spPr>
          <a:xfrm>
            <a:off x="6156945" y="2916213"/>
            <a:ext cx="3201821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Approved changes and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low-stock alerts, packaged for the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Orbyte hub.</a:t>
            </a:r>
            <a:endParaRPr lang="en-US" sz="1440" dirty="0"/>
          </a:p>
        </p:txBody>
      </p:sp>
      <p:sp>
        <p:nvSpPr>
          <p:cNvPr id="17" name="Shape 12"/>
          <p:cNvSpPr/>
          <p:nvPr/>
        </p:nvSpPr>
        <p:spPr>
          <a:xfrm>
            <a:off x="6156982" y="3759324"/>
            <a:ext cx="2438400" cy="500063"/>
          </a:xfrm>
          <a:prstGeom prst="roundRect">
            <a:avLst>
              <a:gd name="adj" fmla="val 7314"/>
            </a:avLst>
          </a:prstGeom>
          <a:solidFill>
            <a:srgbClr val="F5C244"/>
          </a:solidFill>
          <a:ln/>
        </p:spPr>
      </p:sp>
      <p:sp>
        <p:nvSpPr>
          <p:cNvPr id="18" name="Text 13"/>
          <p:cNvSpPr/>
          <p:nvPr/>
        </p:nvSpPr>
        <p:spPr>
          <a:xfrm>
            <a:off x="6230094" y="3808958"/>
            <a:ext cx="2904738" cy="395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Simulated: prepared and logged,</a:t>
            </a:r>
            <a:endParaRPr lang="en-US" sz="1150" dirty="0"/>
          </a:p>
          <a:p>
            <a:pPr marL="0" indent="0" algn="l">
              <a:lnSpc>
                <a:spcPts val="1728"/>
              </a:lnSpc>
              <a:buNone/>
            </a:pPr>
            <a:r>
              <a:rPr lang="en-US" sz="115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not sent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8098"/>
            <a:ext cx="2438460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65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Architecture</a:t>
            </a:r>
            <a:endParaRPr lang="en-US" sz="2590" dirty="0"/>
          </a:p>
        </p:txBody>
      </p:sp>
      <p:sp>
        <p:nvSpPr>
          <p:cNvPr id="4" name="Shape 2"/>
          <p:cNvSpPr/>
          <p:nvPr/>
        </p:nvSpPr>
        <p:spPr>
          <a:xfrm>
            <a:off x="547613" y="1028179"/>
            <a:ext cx="1647825" cy="1019175"/>
          </a:xfrm>
          <a:prstGeom prst="roundRect">
            <a:avLst>
              <a:gd name="adj" fmla="val 7178"/>
            </a:avLst>
          </a:prstGeom>
          <a:solidFill>
            <a:srgbClr val="0E2A22"/>
          </a:solidFill>
          <a:ln/>
        </p:spPr>
      </p:sp>
      <p:sp>
        <p:nvSpPr>
          <p:cNvPr id="5" name="Text 3"/>
          <p:cNvSpPr/>
          <p:nvPr/>
        </p:nvSpPr>
        <p:spPr>
          <a:xfrm>
            <a:off x="694879" y="1156841"/>
            <a:ext cx="164452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React + Vite</a:t>
            </a:r>
            <a:endParaRPr lang="en-US" sz="1730" dirty="0"/>
          </a:p>
        </p:txBody>
      </p:sp>
      <p:sp>
        <p:nvSpPr>
          <p:cNvPr id="6" name="Text 4"/>
          <p:cNvSpPr/>
          <p:nvPr/>
        </p:nvSpPr>
        <p:spPr>
          <a:xfrm>
            <a:off x="694879" y="1476226"/>
            <a:ext cx="1392912" cy="418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20" dirty="0">
                <a:solidFill>
                  <a:srgbClr val="C0C7C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Phone-friendly</a:t>
            </a:r>
            <a:endParaRPr lang="en-US" sz="1220" dirty="0"/>
          </a:p>
          <a:p>
            <a:pPr marL="0" indent="0" algn="l">
              <a:lnSpc>
                <a:spcPts val="1836"/>
              </a:lnSpc>
              <a:buNone/>
            </a:pPr>
            <a:r>
              <a:rPr lang="en-US" sz="1220" dirty="0">
                <a:solidFill>
                  <a:srgbClr val="C0C7C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web UI</a:t>
            </a:r>
            <a:endParaRPr lang="en-US" sz="122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180" y="1469157"/>
            <a:ext cx="274290" cy="1371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681213" y="1028179"/>
            <a:ext cx="1647825" cy="1019175"/>
          </a:xfrm>
          <a:prstGeom prst="roundRect">
            <a:avLst>
              <a:gd name="adj" fmla="val 7178"/>
            </a:avLst>
          </a:prstGeom>
          <a:solidFill>
            <a:srgbClr val="0E2A22"/>
          </a:solidFill>
          <a:ln/>
        </p:spPr>
      </p:sp>
      <p:sp>
        <p:nvSpPr>
          <p:cNvPr id="9" name="Text 6"/>
          <p:cNvSpPr/>
          <p:nvPr/>
        </p:nvSpPr>
        <p:spPr>
          <a:xfrm>
            <a:off x="2828479" y="1156841"/>
            <a:ext cx="1093120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FastAPI</a:t>
            </a:r>
            <a:endParaRPr lang="en-US" sz="1730" dirty="0"/>
          </a:p>
        </p:txBody>
      </p:sp>
      <p:sp>
        <p:nvSpPr>
          <p:cNvPr id="10" name="Text 7"/>
          <p:cNvSpPr/>
          <p:nvPr/>
        </p:nvSpPr>
        <p:spPr>
          <a:xfrm>
            <a:off x="2828479" y="1476226"/>
            <a:ext cx="1319198" cy="418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20" dirty="0">
                <a:solidFill>
                  <a:srgbClr val="C0C7C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Rules and role</a:t>
            </a:r>
            <a:endParaRPr lang="en-US" sz="1220" dirty="0"/>
          </a:p>
          <a:p>
            <a:pPr marL="0" indent="0" algn="l">
              <a:lnSpc>
                <a:spcPts val="1836"/>
              </a:lnSpc>
              <a:buNone/>
            </a:pPr>
            <a:r>
              <a:rPr lang="en-US" sz="1220" dirty="0">
                <a:solidFill>
                  <a:srgbClr val="C0C7C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checks</a:t>
            </a:r>
            <a:endParaRPr lang="en-US" sz="122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780" y="1469157"/>
            <a:ext cx="274290" cy="13714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14813" y="1028179"/>
            <a:ext cx="1647825" cy="1019175"/>
          </a:xfrm>
          <a:prstGeom prst="roundRect">
            <a:avLst>
              <a:gd name="adj" fmla="val 7178"/>
            </a:avLst>
          </a:prstGeom>
          <a:solidFill>
            <a:srgbClr val="0E2A22"/>
          </a:solidFill>
          <a:ln/>
        </p:spPr>
      </p:sp>
      <p:sp>
        <p:nvSpPr>
          <p:cNvPr id="13" name="Text 9"/>
          <p:cNvSpPr/>
          <p:nvPr/>
        </p:nvSpPr>
        <p:spPr>
          <a:xfrm>
            <a:off x="4962079" y="1156841"/>
            <a:ext cx="1777447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SQLAlchemy</a:t>
            </a:r>
            <a:endParaRPr lang="en-US" sz="1730" dirty="0"/>
          </a:p>
        </p:txBody>
      </p:sp>
      <p:sp>
        <p:nvSpPr>
          <p:cNvPr id="14" name="Text 10"/>
          <p:cNvSpPr/>
          <p:nvPr/>
        </p:nvSpPr>
        <p:spPr>
          <a:xfrm>
            <a:off x="4962079" y="1476226"/>
            <a:ext cx="95633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220" dirty="0">
                <a:solidFill>
                  <a:srgbClr val="C0C7C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 layer</a:t>
            </a:r>
            <a:endParaRPr lang="en-US" sz="122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380" y="1469157"/>
            <a:ext cx="274290" cy="13714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6948413" y="1028179"/>
            <a:ext cx="1647825" cy="1019175"/>
          </a:xfrm>
          <a:prstGeom prst="roundRect">
            <a:avLst>
              <a:gd name="adj" fmla="val 7178"/>
            </a:avLst>
          </a:prstGeom>
          <a:solidFill>
            <a:srgbClr val="0E2A22"/>
          </a:solidFill>
          <a:ln/>
        </p:spPr>
      </p:sp>
      <p:sp>
        <p:nvSpPr>
          <p:cNvPr id="17" name="Text 12"/>
          <p:cNvSpPr/>
          <p:nvPr/>
        </p:nvSpPr>
        <p:spPr>
          <a:xfrm>
            <a:off x="7095679" y="1156841"/>
            <a:ext cx="922764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SQLite</a:t>
            </a:r>
            <a:endParaRPr lang="en-US" sz="1730" dirty="0"/>
          </a:p>
        </p:txBody>
      </p:sp>
      <p:sp>
        <p:nvSpPr>
          <p:cNvPr id="18" name="Text 13"/>
          <p:cNvSpPr/>
          <p:nvPr/>
        </p:nvSpPr>
        <p:spPr>
          <a:xfrm>
            <a:off x="7095679" y="1476226"/>
            <a:ext cx="1633113" cy="418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36"/>
              </a:lnSpc>
              <a:buNone/>
            </a:pPr>
            <a:r>
              <a:rPr lang="en-US" sz="1220" dirty="0">
                <a:solidFill>
                  <a:srgbClr val="C0C7C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Products, counts,</a:t>
            </a:r>
            <a:endParaRPr lang="en-US" sz="1220" dirty="0"/>
          </a:p>
          <a:p>
            <a:pPr marL="0" indent="0" algn="l">
              <a:lnSpc>
                <a:spcPts val="1836"/>
              </a:lnSpc>
              <a:buNone/>
            </a:pPr>
            <a:r>
              <a:rPr lang="en-US" sz="1220" dirty="0">
                <a:solidFill>
                  <a:srgbClr val="C0C7C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log</a:t>
            </a:r>
            <a:endParaRPr lang="en-US" sz="1220" dirty="0"/>
          </a:p>
        </p:txBody>
      </p:sp>
      <p:sp>
        <p:nvSpPr>
          <p:cNvPr id="19" name="Text 14"/>
          <p:cNvSpPr/>
          <p:nvPr/>
        </p:nvSpPr>
        <p:spPr>
          <a:xfrm>
            <a:off x="548580" y="2287860"/>
            <a:ext cx="1616378" cy="1423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360" b="1" kern="0" spc="-234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57</a:t>
            </a:r>
            <a:endParaRPr lang="en-US" sz="9360" dirty="0"/>
          </a:p>
        </p:txBody>
      </p:sp>
      <p:sp>
        <p:nvSpPr>
          <p:cNvPr id="20" name="Text 15"/>
          <p:cNvSpPr/>
          <p:nvPr/>
        </p:nvSpPr>
        <p:spPr>
          <a:xfrm>
            <a:off x="548580" y="3655740"/>
            <a:ext cx="271300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810"/>
              </a:spcBef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backend tests passing</a:t>
            </a:r>
            <a:endParaRPr lang="en-US" sz="1580" dirty="0"/>
          </a:p>
        </p:txBody>
      </p:sp>
      <p:sp>
        <p:nvSpPr>
          <p:cNvPr id="21" name="Shape 16"/>
          <p:cNvSpPr/>
          <p:nvPr/>
        </p:nvSpPr>
        <p:spPr>
          <a:xfrm>
            <a:off x="3475211" y="2469282"/>
            <a:ext cx="5119688" cy="609600"/>
          </a:xfrm>
          <a:prstGeom prst="rect">
            <a:avLst/>
          </a:prstGeom>
          <a:ln/>
        </p:spPr>
      </p:sp>
      <p:sp>
        <p:nvSpPr>
          <p:cNvPr id="22" name="Text 17"/>
          <p:cNvSpPr/>
          <p:nvPr/>
        </p:nvSpPr>
        <p:spPr>
          <a:xfrm>
            <a:off x="3474690" y="2483123"/>
            <a:ext cx="198882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transaction</a:t>
            </a:r>
            <a:endParaRPr lang="en-US" sz="1580" dirty="0"/>
          </a:p>
        </p:txBody>
      </p:sp>
      <p:sp>
        <p:nvSpPr>
          <p:cNvPr id="23" name="Text 18"/>
          <p:cNvSpPr/>
          <p:nvPr/>
        </p:nvSpPr>
        <p:spPr>
          <a:xfrm>
            <a:off x="5358333" y="2483123"/>
            <a:ext cx="4220572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stock change and its audit entry save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together, or not at all</a:t>
            </a:r>
            <a:endParaRPr lang="en-US" sz="1440" dirty="0"/>
          </a:p>
        </p:txBody>
      </p:sp>
      <p:sp>
        <p:nvSpPr>
          <p:cNvPr id="24" name="Shape 19"/>
          <p:cNvSpPr/>
          <p:nvPr/>
        </p:nvSpPr>
        <p:spPr>
          <a:xfrm>
            <a:off x="3475211" y="3078807"/>
            <a:ext cx="5119688" cy="714375"/>
          </a:xfrm>
          <a:prstGeom prst="rect">
            <a:avLst/>
          </a:prstGeom>
          <a:ln/>
        </p:spPr>
      </p:sp>
      <p:sp>
        <p:nvSpPr>
          <p:cNvPr id="25" name="Text 20"/>
          <p:cNvSpPr/>
          <p:nvPr/>
        </p:nvSpPr>
        <p:spPr>
          <a:xfrm>
            <a:off x="3474690" y="3196456"/>
            <a:ext cx="206379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Hosted on Replit</a:t>
            </a:r>
            <a:endParaRPr lang="en-US" sz="1580" dirty="0"/>
          </a:p>
        </p:txBody>
      </p:sp>
      <p:sp>
        <p:nvSpPr>
          <p:cNvPr id="26" name="Text 21"/>
          <p:cNvSpPr/>
          <p:nvPr/>
        </p:nvSpPr>
        <p:spPr>
          <a:xfrm>
            <a:off x="5358333" y="3196456"/>
            <a:ext cx="3248933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Roles and the Orbyte sync are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simulated in this build</a:t>
            </a:r>
            <a:endParaRPr lang="en-US" sz="1440" dirty="0"/>
          </a:p>
        </p:txBody>
      </p:sp>
      <p:sp>
        <p:nvSpPr>
          <p:cNvPr id="27" name="Text 22"/>
          <p:cNvSpPr/>
          <p:nvPr/>
        </p:nvSpPr>
        <p:spPr>
          <a:xfrm>
            <a:off x="3474690" y="3909789"/>
            <a:ext cx="186122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AI coding tools</a:t>
            </a:r>
            <a:endParaRPr lang="en-US" sz="1580" dirty="0"/>
          </a:p>
        </p:txBody>
      </p:sp>
      <p:sp>
        <p:nvSpPr>
          <p:cNvPr id="28" name="Text 23"/>
          <p:cNvSpPr/>
          <p:nvPr/>
        </p:nvSpPr>
        <p:spPr>
          <a:xfrm>
            <a:off x="5358333" y="3909789"/>
            <a:ext cx="4234793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Used during development and declared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 our submission</a:t>
            </a:r>
            <a:endParaRPr lang="en-US" sz="144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3475211" y="2469282"/>
            <a:ext cx="5119688" cy="609600"/>
          </a:xfrm>
          <a:prstGeom prst="rect">
            <a:avLst/>
          </a:prstGeom>
        </p:spPr>
      </p:pic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3475211" y="3078807"/>
            <a:ext cx="5119688" cy="714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sp>
        <p:nvSpPr>
          <p:cNvPr id="3" name="Shape 1"/>
          <p:cNvSpPr/>
          <p:nvPr/>
        </p:nvSpPr>
        <p:spPr>
          <a:xfrm>
            <a:off x="6218895" y="0"/>
            <a:ext cx="2924175" cy="5143500"/>
          </a:xfrm>
          <a:prstGeom prst="rect">
            <a:avLst/>
          </a:prstGeom>
          <a:solidFill>
            <a:srgbClr val="0E2A22"/>
          </a:solidFill>
          <a:ln/>
        </p:spPr>
      </p:sp>
      <p:sp>
        <p:nvSpPr>
          <p:cNvPr id="4" name="Text 2"/>
          <p:cNvSpPr/>
          <p:nvPr/>
        </p:nvSpPr>
        <p:spPr>
          <a:xfrm>
            <a:off x="548580" y="378098"/>
            <a:ext cx="3149002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65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Impact on SDG 8</a:t>
            </a:r>
            <a:endParaRPr lang="en-US" sz="2590" dirty="0"/>
          </a:p>
        </p:txBody>
      </p:sp>
      <p:sp>
        <p:nvSpPr>
          <p:cNvPr id="5" name="Shape 3"/>
          <p:cNvSpPr/>
          <p:nvPr/>
        </p:nvSpPr>
        <p:spPr>
          <a:xfrm>
            <a:off x="549027" y="1131354"/>
            <a:ext cx="5119688" cy="923925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48580" y="1083915"/>
            <a:ext cx="1451536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100%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66479" y="1131540"/>
            <a:ext cx="18305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Accountability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2066479" y="1428006"/>
            <a:ext cx="4573086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Stock changes with a named approver and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 audit entry. Target.</a:t>
            </a:r>
            <a:endParaRPr lang="en-US" sz="1440" dirty="0"/>
          </a:p>
        </p:txBody>
      </p:sp>
      <p:sp>
        <p:nvSpPr>
          <p:cNvPr id="9" name="Shape 7"/>
          <p:cNvSpPr/>
          <p:nvPr/>
        </p:nvSpPr>
        <p:spPr>
          <a:xfrm>
            <a:off x="549027" y="2055093"/>
            <a:ext cx="5119688" cy="1057275"/>
          </a:xfrm>
          <a:prstGeom prst="rect">
            <a:avLst/>
          </a:prstGeom>
          <a:ln/>
        </p:spPr>
      </p:sp>
      <p:sp>
        <p:nvSpPr>
          <p:cNvPr id="10" name="Text 8"/>
          <p:cNvSpPr/>
          <p:nvPr/>
        </p:nvSpPr>
        <p:spPr>
          <a:xfrm>
            <a:off x="548580" y="2141190"/>
            <a:ext cx="1253609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066479" y="2188815"/>
            <a:ext cx="208188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Record accuracy</a:t>
            </a:r>
            <a:endParaRPr lang="en-US" sz="1580" dirty="0"/>
          </a:p>
        </p:txBody>
      </p:sp>
      <p:sp>
        <p:nvSpPr>
          <p:cNvPr id="12" name="Text 10"/>
          <p:cNvSpPr/>
          <p:nvPr/>
        </p:nvSpPr>
        <p:spPr>
          <a:xfrm>
            <a:off x="2066479" y="2485281"/>
            <a:ext cx="4087557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Fewer mismatches (relative) after two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count cycles. Pilot hypothesis.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548580" y="3198465"/>
            <a:ext cx="1745717" cy="547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2705A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≥50%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066479" y="3246090"/>
            <a:ext cx="2053151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80" b="1" dirty="0">
                <a:solidFill>
                  <a:srgbClr val="0E2A2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Owner workload</a:t>
            </a:r>
            <a:endParaRPr lang="en-US" sz="1580" dirty="0"/>
          </a:p>
        </p:txBody>
      </p:sp>
      <p:sp>
        <p:nvSpPr>
          <p:cNvPr id="15" name="Text 13"/>
          <p:cNvSpPr/>
          <p:nvPr/>
        </p:nvSpPr>
        <p:spPr>
          <a:xfrm>
            <a:off x="2066479" y="3542556"/>
            <a:ext cx="4260525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Mismatch reviews closed automatically.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Pilot hypothesis.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6492180" y="430485"/>
            <a:ext cx="1580584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SDG TARGETS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180" y="742280"/>
            <a:ext cx="803583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215"/>
              </a:spcBef>
              <a:buNone/>
            </a:pPr>
            <a:r>
              <a:rPr lang="en-US" sz="3170" b="1" dirty="0">
                <a:solidFill>
                  <a:srgbClr val="F5C24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8.2</a:t>
            </a:r>
            <a:endParaRPr lang="en-US" sz="3170" dirty="0"/>
          </a:p>
        </p:txBody>
      </p:sp>
      <p:sp>
        <p:nvSpPr>
          <p:cNvPr id="18" name="Text 16"/>
          <p:cNvSpPr/>
          <p:nvPr/>
        </p:nvSpPr>
        <p:spPr>
          <a:xfrm>
            <a:off x="6492180" y="1253207"/>
            <a:ext cx="2166818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Higher productivity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through technology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6492180" y="1873821"/>
            <a:ext cx="807742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377"/>
              </a:spcBef>
              <a:buNone/>
            </a:pPr>
            <a:r>
              <a:rPr lang="en-US" sz="3170" b="1" dirty="0">
                <a:solidFill>
                  <a:srgbClr val="F5C24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8.3</a:t>
            </a:r>
            <a:endParaRPr lang="en-US" sz="3170" dirty="0"/>
          </a:p>
        </p:txBody>
      </p:sp>
      <p:sp>
        <p:nvSpPr>
          <p:cNvPr id="20" name="Text 18"/>
          <p:cNvSpPr/>
          <p:nvPr/>
        </p:nvSpPr>
        <p:spPr>
          <a:xfrm>
            <a:off x="6492180" y="2384747"/>
            <a:ext cx="2755761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Growth and formalisation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of micro-enterprises</a:t>
            </a:r>
            <a:endParaRPr lang="en-US" sz="1440" dirty="0"/>
          </a:p>
        </p:txBody>
      </p:sp>
      <p:sp>
        <p:nvSpPr>
          <p:cNvPr id="21" name="Shape 19"/>
          <p:cNvSpPr/>
          <p:nvPr/>
        </p:nvSpPr>
        <p:spPr>
          <a:xfrm>
            <a:off x="6492218" y="3850295"/>
            <a:ext cx="2286000" cy="881063"/>
          </a:xfrm>
          <a:prstGeom prst="rect">
            <a:avLst/>
          </a:prstGeom>
          <a:ln/>
        </p:spPr>
      </p:sp>
      <p:sp>
        <p:nvSpPr>
          <p:cNvPr id="22" name="Text 20"/>
          <p:cNvSpPr/>
          <p:nvPr/>
        </p:nvSpPr>
        <p:spPr>
          <a:xfrm>
            <a:off x="6492180" y="3992017"/>
            <a:ext cx="27791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b="1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Runs in a phone browser.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6492180" y="4243462"/>
            <a:ext cx="1979823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9FAF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new hardware.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6492180" y="4494907"/>
            <a:ext cx="1293659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440" dirty="0">
                <a:solidFill>
                  <a:srgbClr val="F9FAF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training.</a:t>
            </a:r>
            <a:endParaRPr lang="en-US" sz="144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49027" y="1131354"/>
            <a:ext cx="5119688" cy="923925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49027" y="2055093"/>
            <a:ext cx="5119688" cy="1057275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492218" y="3850295"/>
            <a:ext cx="2286000" cy="8810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4EF"/>
          </a:solidFill>
          <a:ln/>
        </p:spPr>
      </p:sp>
      <p:sp>
        <p:nvSpPr>
          <p:cNvPr id="3" name="Text 1"/>
          <p:cNvSpPr/>
          <p:nvPr/>
        </p:nvSpPr>
        <p:spPr>
          <a:xfrm>
            <a:off x="548580" y="378098"/>
            <a:ext cx="3332128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90" b="1" kern="0" spc="-65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Phase 2 roadmap</a:t>
            </a:r>
            <a:endParaRPr lang="en-US" sz="2590" dirty="0"/>
          </a:p>
        </p:txBody>
      </p:sp>
      <p:sp>
        <p:nvSpPr>
          <p:cNvPr id="4" name="Text 2"/>
          <p:cNvSpPr/>
          <p:nvPr/>
        </p:nvSpPr>
        <p:spPr>
          <a:xfrm>
            <a:off x="548580" y="996255"/>
            <a:ext cx="1120013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56675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PRODUCT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9436" y="1234232"/>
            <a:ext cx="1900238" cy="1347788"/>
          </a:xfrm>
          <a:prstGeom prst="roundRect">
            <a:avLst>
              <a:gd name="adj" fmla="val 5428"/>
            </a:avLst>
          </a:prstGeom>
          <a:solidFill>
            <a:srgbClr val="F5C244"/>
          </a:solidFill>
          <a:ln/>
        </p:spPr>
      </p:sp>
      <p:sp>
        <p:nvSpPr>
          <p:cNvPr id="6" name="Text 4"/>
          <p:cNvSpPr/>
          <p:nvPr/>
        </p:nvSpPr>
        <p:spPr>
          <a:xfrm>
            <a:off x="694879" y="1372865"/>
            <a:ext cx="66727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Pilot</a:t>
            </a:r>
            <a:endParaRPr lang="en-US" sz="1730" dirty="0"/>
          </a:p>
        </p:txBody>
      </p:sp>
      <p:sp>
        <p:nvSpPr>
          <p:cNvPr id="7" name="Text 5"/>
          <p:cNvSpPr/>
          <p:nvPr/>
        </p:nvSpPr>
        <p:spPr>
          <a:xfrm>
            <a:off x="694879" y="1708100"/>
            <a:ext cx="2088847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3–5 shop owners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counting real stock</a:t>
            </a:r>
            <a:endParaRPr lang="en-US" sz="1440" dirty="0"/>
          </a:p>
        </p:txBody>
      </p:sp>
      <p:sp>
        <p:nvSpPr>
          <p:cNvPr id="8" name="Shape 6"/>
          <p:cNvSpPr/>
          <p:nvPr/>
        </p:nvSpPr>
        <p:spPr>
          <a:xfrm>
            <a:off x="2597721" y="1234232"/>
            <a:ext cx="1900238" cy="1347788"/>
          </a:xfrm>
          <a:prstGeom prst="roundRect">
            <a:avLst>
              <a:gd name="adj" fmla="val 5428"/>
            </a:avLst>
          </a:prstGeom>
          <a:solidFill>
            <a:srgbClr val="F5C244"/>
          </a:solidFill>
          <a:ln/>
        </p:spPr>
      </p:sp>
      <p:sp>
        <p:nvSpPr>
          <p:cNvPr id="9" name="Text 7"/>
          <p:cNvSpPr/>
          <p:nvPr/>
        </p:nvSpPr>
        <p:spPr>
          <a:xfrm>
            <a:off x="2743126" y="1372865"/>
            <a:ext cx="1518382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Real logins</a:t>
            </a:r>
            <a:endParaRPr lang="en-US" sz="1730" dirty="0"/>
          </a:p>
        </p:txBody>
      </p:sp>
      <p:sp>
        <p:nvSpPr>
          <p:cNvPr id="10" name="Text 8"/>
          <p:cNvSpPr/>
          <p:nvPr/>
        </p:nvSpPr>
        <p:spPr>
          <a:xfrm>
            <a:off x="2743126" y="1708100"/>
            <a:ext cx="1820399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Server-side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roles replace the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toggle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4646005" y="1234232"/>
            <a:ext cx="1900238" cy="1347788"/>
          </a:xfrm>
          <a:prstGeom prst="roundRect">
            <a:avLst>
              <a:gd name="adj" fmla="val 5428"/>
            </a:avLst>
          </a:prstGeom>
          <a:solidFill>
            <a:srgbClr val="F5C244"/>
          </a:solidFill>
          <a:ln/>
        </p:spPr>
      </p:sp>
      <p:sp>
        <p:nvSpPr>
          <p:cNvPr id="12" name="Text 10"/>
          <p:cNvSpPr/>
          <p:nvPr/>
        </p:nvSpPr>
        <p:spPr>
          <a:xfrm>
            <a:off x="4791447" y="1372865"/>
            <a:ext cx="2139055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Live Orbyte link</a:t>
            </a:r>
            <a:endParaRPr lang="en-US" sz="1730" dirty="0"/>
          </a:p>
        </p:txBody>
      </p:sp>
      <p:sp>
        <p:nvSpPr>
          <p:cNvPr id="13" name="Text 11"/>
          <p:cNvSpPr/>
          <p:nvPr/>
        </p:nvSpPr>
        <p:spPr>
          <a:xfrm>
            <a:off x="4791447" y="1708100"/>
            <a:ext cx="2036125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Send the prepared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payload for real</a:t>
            </a:r>
            <a:endParaRPr lang="en-US" sz="1440" dirty="0"/>
          </a:p>
        </p:txBody>
      </p:sp>
      <p:sp>
        <p:nvSpPr>
          <p:cNvPr id="14" name="Shape 12"/>
          <p:cNvSpPr/>
          <p:nvPr/>
        </p:nvSpPr>
        <p:spPr>
          <a:xfrm>
            <a:off x="6694289" y="1234232"/>
            <a:ext cx="1900238" cy="1347788"/>
          </a:xfrm>
          <a:prstGeom prst="roundRect">
            <a:avLst>
              <a:gd name="adj" fmla="val 5428"/>
            </a:avLst>
          </a:prstGeom>
          <a:solidFill>
            <a:srgbClr val="F5C244"/>
          </a:solidFill>
          <a:ln/>
        </p:spPr>
      </p:sp>
      <p:sp>
        <p:nvSpPr>
          <p:cNvPr id="15" name="Text 13"/>
          <p:cNvSpPr/>
          <p:nvPr/>
        </p:nvSpPr>
        <p:spPr>
          <a:xfrm>
            <a:off x="6839694" y="1372865"/>
            <a:ext cx="2101036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0E2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Shop-set limits</a:t>
            </a:r>
            <a:endParaRPr lang="en-US" sz="1730" dirty="0"/>
          </a:p>
        </p:txBody>
      </p:sp>
      <p:sp>
        <p:nvSpPr>
          <p:cNvPr id="16" name="Text 14"/>
          <p:cNvSpPr/>
          <p:nvPr/>
        </p:nvSpPr>
        <p:spPr>
          <a:xfrm>
            <a:off x="6839694" y="1708100"/>
            <a:ext cx="1957187" cy="72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Each owner tunes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auto-fix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3C482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thresholds</a:t>
            </a:r>
            <a:endParaRPr lang="en-US" sz="1440" dirty="0"/>
          </a:p>
        </p:txBody>
      </p:sp>
      <p:sp>
        <p:nvSpPr>
          <p:cNvPr id="17" name="Shape 15"/>
          <p:cNvSpPr/>
          <p:nvPr/>
        </p:nvSpPr>
        <p:spPr>
          <a:xfrm>
            <a:off x="0" y="2982292"/>
            <a:ext cx="9144000" cy="2162175"/>
          </a:xfrm>
          <a:prstGeom prst="rect">
            <a:avLst/>
          </a:prstGeom>
          <a:solidFill>
            <a:srgbClr val="0E2A2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580" y="3310830"/>
            <a:ext cx="165284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AI · ADVISORY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580" y="3598218"/>
            <a:ext cx="1909978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730" b="1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Loss patterns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548580" y="3933453"/>
            <a:ext cx="2692204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9FAF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Flags products that keep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9FAF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going missing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3165202" y="3310830"/>
            <a:ext cx="1652848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AI · ADVISORY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165202" y="3598218"/>
            <a:ext cx="2421821" cy="2619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648"/>
              </a:spcBef>
              <a:buNone/>
            </a:pPr>
            <a:r>
              <a:rPr lang="en-US" sz="1730" b="1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Weekly summary</a:t>
            </a:r>
            <a:endParaRPr lang="en-US" sz="1730" dirty="0"/>
          </a:p>
        </p:txBody>
      </p:sp>
      <p:sp>
        <p:nvSpPr>
          <p:cNvPr id="23" name="Text 21"/>
          <p:cNvSpPr/>
          <p:nvPr/>
        </p:nvSpPr>
        <p:spPr>
          <a:xfrm>
            <a:off x="3165202" y="3933453"/>
            <a:ext cx="2138861" cy="4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9FAF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short recap in BM</a:t>
            </a:r>
            <a:endParaRPr lang="en-US" sz="1440" dirty="0"/>
          </a:p>
          <a:p>
            <a:pPr marL="0" indent="0" algn="l">
              <a:lnSpc>
                <a:spcPts val="1980"/>
              </a:lnSpc>
              <a:buNone/>
            </a:pPr>
            <a:r>
              <a:rPr lang="en-US" sz="1440" dirty="0">
                <a:solidFill>
                  <a:srgbClr val="F9FAF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or English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5781824" y="3495898"/>
            <a:ext cx="3708827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61" dirty="0">
                <a:solidFill>
                  <a:srgbClr val="F5C24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AI recommends.</a:t>
            </a:r>
            <a:endParaRPr lang="en-US" sz="2450" dirty="0"/>
          </a:p>
        </p:txBody>
      </p:sp>
      <p:sp>
        <p:nvSpPr>
          <p:cNvPr id="25" name="Text 23"/>
          <p:cNvSpPr/>
          <p:nvPr/>
        </p:nvSpPr>
        <p:spPr>
          <a:xfrm>
            <a:off x="5781824" y="3837831"/>
            <a:ext cx="3504419" cy="3762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50" b="1" kern="0" spc="-61" dirty="0">
                <a:solidFill>
                  <a:srgbClr val="F5C24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owner decides.</a:t>
            </a:r>
            <a:endParaRPr lang="en-US" sz="2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A22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342" y="0"/>
            <a:ext cx="3476625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8082" y="0"/>
            <a:ext cx="57150" cy="5143500"/>
          </a:xfrm>
          <a:prstGeom prst="rect">
            <a:avLst/>
          </a:prstGeom>
          <a:solidFill>
            <a:srgbClr val="F5C244"/>
          </a:solidFill>
          <a:ln/>
        </p:spPr>
      </p:sp>
      <p:sp>
        <p:nvSpPr>
          <p:cNvPr id="5" name="Shape 2"/>
          <p:cNvSpPr/>
          <p:nvPr/>
        </p:nvSpPr>
        <p:spPr>
          <a:xfrm>
            <a:off x="548097" y="410952"/>
            <a:ext cx="366712" cy="366712"/>
          </a:xfrm>
          <a:prstGeom prst="roundRect">
            <a:avLst>
              <a:gd name="adj" fmla="val 19948"/>
            </a:avLst>
          </a:prstGeom>
          <a:solidFill>
            <a:srgbClr val="12705A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29" y="484584"/>
            <a:ext cx="219447" cy="2194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4012" y="449312"/>
            <a:ext cx="2165851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70" b="1" kern="0" spc="-47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Stock Manager</a:t>
            </a:r>
            <a:endParaRPr lang="en-US" sz="1870" dirty="0"/>
          </a:p>
        </p:txBody>
      </p:sp>
      <p:sp>
        <p:nvSpPr>
          <p:cNvPr id="8" name="Text 4"/>
          <p:cNvSpPr/>
          <p:nvPr/>
        </p:nvSpPr>
        <p:spPr>
          <a:xfrm>
            <a:off x="548580" y="1294433"/>
            <a:ext cx="351341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40" b="1" kern="0" spc="-94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Stock counts</a:t>
            </a:r>
            <a:endParaRPr lang="en-US" sz="3740" dirty="0"/>
          </a:p>
        </p:txBody>
      </p:sp>
      <p:sp>
        <p:nvSpPr>
          <p:cNvPr id="9" name="Text 5"/>
          <p:cNvSpPr/>
          <p:nvPr/>
        </p:nvSpPr>
        <p:spPr>
          <a:xfrm>
            <a:off x="548580" y="1788914"/>
            <a:ext cx="366171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740" b="1" kern="0" spc="-94" dirty="0">
                <a:solidFill>
                  <a:srgbClr val="FBFBF7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 can trust.</a:t>
            </a:r>
            <a:endParaRPr lang="en-US" sz="3740" dirty="0"/>
          </a:p>
        </p:txBody>
      </p:sp>
      <p:sp>
        <p:nvSpPr>
          <p:cNvPr id="10" name="Text 6"/>
          <p:cNvSpPr/>
          <p:nvPr/>
        </p:nvSpPr>
        <p:spPr>
          <a:xfrm>
            <a:off x="548580" y="2899395"/>
            <a:ext cx="1272086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38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LIVE DEMO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548580" y="3154412"/>
            <a:ext cx="543125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440" b="1" u="sng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hackstreetboys-stock.replit.app/stock_manager/</a:t>
            </a:r>
            <a:endParaRPr lang="en-US" sz="1440" dirty="0"/>
          </a:p>
        </p:txBody>
      </p:sp>
      <p:sp>
        <p:nvSpPr>
          <p:cNvPr id="12" name="Text 8"/>
          <p:cNvSpPr/>
          <p:nvPr/>
        </p:nvSpPr>
        <p:spPr>
          <a:xfrm>
            <a:off x="548580" y="3598887"/>
            <a:ext cx="681209" cy="1762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1377"/>
              </a:spcBef>
              <a:buNone/>
            </a:pPr>
            <a:r>
              <a:rPr lang="en-US" sz="1150" b="1" kern="0" spc="138" dirty="0">
                <a:solidFill>
                  <a:srgbClr val="F5C2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CODE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48580" y="3853904"/>
            <a:ext cx="426594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spcBef>
                <a:spcPts val="243"/>
              </a:spcBef>
              <a:buNone/>
            </a:pPr>
            <a:r>
              <a:rPr lang="en-US" sz="1440" b="1" u="sng" dirty="0">
                <a:solidFill>
                  <a:srgbClr val="FBFBF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github.com/Adilkrab/Hackstreet-Boys</a:t>
            </a:r>
            <a:endParaRPr lang="en-US" sz="1440" dirty="0"/>
          </a:p>
        </p:txBody>
      </p:sp>
      <p:sp>
        <p:nvSpPr>
          <p:cNvPr id="14" name="Text 10"/>
          <p:cNvSpPr/>
          <p:nvPr/>
        </p:nvSpPr>
        <p:spPr>
          <a:xfrm>
            <a:off x="548580" y="4517975"/>
            <a:ext cx="539981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20" dirty="0">
                <a:solidFill>
                  <a:srgbClr val="B4BCB6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Hackstreet Boys · SDC Hackathon 2026 · Domain 2 · SDG 8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618</Words>
  <Application>Microsoft Office PowerPoint</Application>
  <PresentationFormat>On-screen Show (16:9)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Bricolage Grotesque</vt:lpstr>
      <vt:lpstr>Figtree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2026-10-24T16:28:47Z</dcterms:created>
  <dcterms:modified xsi:type="dcterms:W3CDTF">2026-10-24T19:20:39Z</dcterms:modified>
</cp:coreProperties>
</file>