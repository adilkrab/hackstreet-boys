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3429f2027b4be1" /><Relationship Type="http://schemas.openxmlformats.org/officeDocument/2006/relationships/extended-properties" Target="/docProps/app.xml" Id="R26f7b1e31cfa48ee" /><Relationship Type="http://schemas.openxmlformats.org/officeDocument/2006/relationships/officeDocument" Target="/ppt/presentation.xml" Id="Rab99530915dd4a44" /></Relationships>
</file>

<file path=ppt/presentation.xml><?xml version="1.0" encoding="utf-8"?>
<p:presentation xmlns:p="http://schemas.openxmlformats.org/presentationml/2006/main">
  <p:sldMasterIdLst>
    <p:sldMasterId xmlns:r="http://schemas.openxmlformats.org/officeDocument/2006/relationships" id="2147483648" r:id="R2b430d73dc6c4ef8"/>
  </p:sldMasterIdLst>
  <p:notesMasterIdLst>
    <p:notesMasterId xmlns:r="http://schemas.openxmlformats.org/officeDocument/2006/relationships" r:id="Rdfda1a9eb6254ae7"/>
  </p:notesMasterIdLst>
  <p:sldIdLst>
    <p:sldId xmlns:r="http://schemas.openxmlformats.org/officeDocument/2006/relationships" id="256" r:id="Rdfc534a027974986"/>
    <p:sldId xmlns:r="http://schemas.openxmlformats.org/officeDocument/2006/relationships" id="257" r:id="R49cb220d1c03463d"/>
    <p:sldId xmlns:r="http://schemas.openxmlformats.org/officeDocument/2006/relationships" id="258" r:id="R2eae3cbeab7d432b"/>
    <p:sldId xmlns:r="http://schemas.openxmlformats.org/officeDocument/2006/relationships" id="259" r:id="R181bcf2444eb4253"/>
    <p:sldId xmlns:r="http://schemas.openxmlformats.org/officeDocument/2006/relationships" id="260" r:id="R6847927c8af241af"/>
    <p:sldId xmlns:r="http://schemas.openxmlformats.org/officeDocument/2006/relationships" id="261" r:id="Rf4af945be81f429b"/>
    <p:sldId xmlns:r="http://schemas.openxmlformats.org/officeDocument/2006/relationships" id="262" r:id="R3fd8d7d762c74298"/>
    <p:sldId xmlns:r="http://schemas.openxmlformats.org/officeDocument/2006/relationships" id="263" r:id="R55036af6aace4db5"/>
    <p:sldId xmlns:r="http://schemas.openxmlformats.org/officeDocument/2006/relationships" id="264" r:id="Rc3284b545be84ade"/>
    <p:sldId xmlns:r="http://schemas.openxmlformats.org/officeDocument/2006/relationships" id="265" r:id="Rec88f9b6ee624b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209f40b5e04493" /><Relationship Type="http://schemas.openxmlformats.org/officeDocument/2006/relationships/slideMaster" Target="/ppt/slideMasters/slideMaster1.xml" Id="R2b430d73dc6c4ef8" /><Relationship Type="http://schemas.openxmlformats.org/officeDocument/2006/relationships/notesMaster" Target="/ppt/notesMasters/notesMaster1.xml" Id="Rdfda1a9eb6254ae7" /><Relationship Type="http://schemas.openxmlformats.org/officeDocument/2006/relationships/presProps" Target="/ppt/presProps.xml" Id="R318c0968ae73472e" /><Relationship Type="http://schemas.openxmlformats.org/officeDocument/2006/relationships/tableStyles" Target="/ppt/tableStyles.xml" Id="Rb88dbf515f7d4960" /><Relationship Type="http://schemas.openxmlformats.org/officeDocument/2006/relationships/slide" Target="/ppt/slides/slide1.xml" Id="Rdfc534a027974986" /><Relationship Type="http://schemas.openxmlformats.org/officeDocument/2006/relationships/slide" Target="/ppt/slides/slide2.xml" Id="R49cb220d1c03463d" /><Relationship Type="http://schemas.openxmlformats.org/officeDocument/2006/relationships/slide" Target="/ppt/slides/slide3.xml" Id="R2eae3cbeab7d432b" /><Relationship Type="http://schemas.openxmlformats.org/officeDocument/2006/relationships/slide" Target="/ppt/slides/slide4.xml" Id="R181bcf2444eb4253" /><Relationship Type="http://schemas.openxmlformats.org/officeDocument/2006/relationships/slide" Target="/ppt/slides/slide5.xml" Id="R6847927c8af241af" /><Relationship Type="http://schemas.openxmlformats.org/officeDocument/2006/relationships/slide" Target="/ppt/slides/slide6.xml" Id="Rf4af945be81f429b" /><Relationship Type="http://schemas.openxmlformats.org/officeDocument/2006/relationships/slide" Target="/ppt/slides/slide7.xml" Id="R3fd8d7d762c74298" /><Relationship Type="http://schemas.openxmlformats.org/officeDocument/2006/relationships/slide" Target="/ppt/slides/slide8.xml" Id="R55036af6aace4db5" /><Relationship Type="http://schemas.openxmlformats.org/officeDocument/2006/relationships/slide" Target="/ppt/slides/slide9.xml" Id="Rc3284b545be84ade" /><Relationship Type="http://schemas.openxmlformats.org/officeDocument/2006/relationships/slide" Target="/ppt/slides/slide10.xml" Id="Rec88f9b6ee624b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a6ff9598054a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5d7e1a1f034770" /><Relationship Type="http://schemas.openxmlformats.org/officeDocument/2006/relationships/notesMaster" Target="/ppt/notesMasters/notesMaster1.xml" Id="R046f25426cae41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3f1b2d541648b5" /><Relationship Type="http://schemas.openxmlformats.org/officeDocument/2006/relationships/notesMaster" Target="/ppt/notesMasters/notesMaster1.xml" Id="Rd487607beb3348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ac430f59324f8a" /><Relationship Type="http://schemas.openxmlformats.org/officeDocument/2006/relationships/notesMaster" Target="/ppt/notesMasters/notesMaster1.xml" Id="Rba7105a70cfa4d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4a62f75d6b4f8a" /><Relationship Type="http://schemas.openxmlformats.org/officeDocument/2006/relationships/notesMaster" Target="/ppt/notesMasters/notesMaster1.xml" Id="R45016939c3834d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9adc2bae33463f" /><Relationship Type="http://schemas.openxmlformats.org/officeDocument/2006/relationships/notesMaster" Target="/ppt/notesMasters/notesMaster1.xml" Id="Re8a2d113b81944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fdfa52ed2b466f" /><Relationship Type="http://schemas.openxmlformats.org/officeDocument/2006/relationships/notesMaster" Target="/ppt/notesMasters/notesMaster1.xml" Id="R4563c84a835542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2e04d3b4514184" /><Relationship Type="http://schemas.openxmlformats.org/officeDocument/2006/relationships/notesMaster" Target="/ppt/notesMasters/notesMaster1.xml" Id="Rad19b667487e45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ff3eac3c96408c" /><Relationship Type="http://schemas.openxmlformats.org/officeDocument/2006/relationships/notesMaster" Target="/ppt/notesMasters/notesMaster1.xml" Id="R137ea6bde4c341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bdeea3e97e4684" /><Relationship Type="http://schemas.openxmlformats.org/officeDocument/2006/relationships/notesMaster" Target="/ppt/notesMasters/notesMaster1.xml" Id="R1f81336d6af945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a58b3051e846ed" /><Relationship Type="http://schemas.openxmlformats.org/officeDocument/2006/relationships/notesMaster" Target="/ppt/notesMasters/notesMaster1.xml" Id="R7b187ad611b347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Stock Manager helps Malaysian micro and small shops reconcile shelf counts with inventory records. Clerks submit physical counts. Explicit rules handle small differences, while larger discrepancies require an owner decision. The prototype uses synthetic minimarket data.</a:t>
            </a:r>
          </a:p>
          <a:p xmlns:a="http://schemas.openxmlformats.org/drawingml/2006/main">
            <a:r>
              <a:t/>
            </a:r>
          </a:p>
          <a:p xmlns:a="http://schemas.openxmlformats.org/drawingml/2006/main">
            <a:r>
              <a:t>Team: Hackstreet Boys. Domain 2: Orbyte Smart SME Challenge. SDG 8: Decent Work and Economic Growth.</a:t>
            </a:r>
          </a:p>
          <a:p xmlns:a="http://schemas.openxmlformats.org/drawingml/2006/main">
            <a:r>
              <a:t/>
            </a:r>
          </a:p>
          <a:p xmlns:a="http://schemas.openxmlformats.org/drawingml/2006/main">
            <a:r>
              <a:t>Source: team preliminary project proposal and technical declaration. Repository: https://github.com/Adilkrab/Hackstreet-Boys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workflow spans paper records, spreadsheets and WhatsApp follow-up. A discrepancy requires someone to verify the count, decide whether to correct it and update the inventory record. Stock Manager focuses on that reconciliation process. This problem framing follows the challenge brief and remains a hypothesis to validate with shop users.</a:t>
            </a:r>
          </a:p>
          <a:p xmlns:a="http://schemas.openxmlformats.org/drawingml/2006/main">
            <a:r>
              <a:t/>
            </a:r>
          </a:p>
          <a:p xmlns:a="http://schemas.openxmlformats.org/drawingml/2006/main">
            <a:r>
              <a:t>Source: team preliminary project proposal, problem context. No customer study or measured reduction in workload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brings pending approvals, low-stock warnings and stock quantities into one view. The prototype also supports product management, stock movements, spreadsheet imports and an activity log. The screenshot shows synthetic demo data from an isolated local instance of the application.</a:t>
            </a:r>
          </a:p>
          <a:p xmlns:a="http://schemas.openxmlformats.org/drawingml/2006/main">
            <a:r>
              <a:t/>
            </a:r>
          </a:p>
          <a:p xmlns:a="http://schemas.openxmlformats.org/drawingml/2006/main">
            <a:r>
              <a:t>Orbyte sync is simulated. The application prepares and logs a payload without sending it externally.</a:t>
            </a:r>
          </a:p>
          <a:p xmlns:a="http://schemas.openxmlformats.org/drawingml/2006/main">
            <a:r>
              <a:t/>
            </a:r>
          </a:p>
          <a:p xmlns:a="http://schemas.openxmlformats.org/drawingml/2006/main">
            <a:r>
              <a:t>Source: team application. Repository: https://github.com/Adilkrab/Hackstreet-Boys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physical count is the full quantity on the shelf. The backend compares that quantity with current system stock and calculates the value of the difference. Automatic correction requires an absolute difference of at most 2 units, a value strictly below RM50 and a nonnegative physical count. Larger valid discrepancies require owner review. Negative counts cannot be approved.</a:t>
            </a:r>
          </a:p>
          <a:p xmlns:a="http://schemas.openxmlformats.org/drawingml/2006/main">
            <a:r>
              <a:t/>
            </a:r>
          </a:p>
          <a:p xmlns:a="http://schemas.openxmlformats.org/drawingml/2006/main">
            <a:r>
              <a:t>An approval updates inventory, movement history and audit records in one transaction. A rejection leaves stock unchanged. Intervening stock changes prevent approval of a stale count.</a:t>
            </a:r>
          </a:p>
          <a:p xmlns:a="http://schemas.openxmlformats.org/drawingml/2006/main">
            <a:r>
              <a:t/>
            </a:r>
          </a:p>
          <a:p xmlns:a="http://schemas.openxmlformats.org/drawingml/2006/main">
            <a:r>
              <a:t>Source: backend workflow implementation and automated tests. https://github.com/Adilkrab/Hackstreet-Boys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synthetic scenario: Maggi Kari 5-pack has 79 units in the system. A clerk counts 78. One unit at RM5.80 produces a discrepancy of RM5.80, which meets the automatic-correction rule. The screenshot shows the decision preview before submission. Submitting the count sets stock to 78 and records the outcome.</a:t>
            </a:r>
          </a:p>
          <a:p xmlns:a="http://schemas.openxmlformats.org/drawingml/2006/main">
            <a:r>
              <a:t/>
            </a:r>
          </a:p>
          <a:p xmlns:a="http://schemas.openxmlformats.org/drawingml/2006/main">
            <a:r>
              <a:t>These values demonstrate application behavior and do not represent business impact measurements.</a:t>
            </a:r>
          </a:p>
          <a:p xmlns:a="http://schemas.openxmlformats.org/drawingml/2006/main">
            <a:r>
              <a:t/>
            </a:r>
          </a:p>
          <a:p xmlns:a="http://schemas.openxmlformats.org/drawingml/2006/main">
            <a:r>
              <a:t>Source: team application and synthetic demo inventory. https://github.com/Adilkrab/Hackstreet-Boys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synthetic scenario: Milo Original 1kg has 35 units in the system and a physical count of 28. The difference is 7 units at RM24.90 each, or RM174.30. The request waits for owner review and stock remains 35 until a decision. Approval sets stock to 28. Rejection keeps it at 35. The log records the decision and review note.</a:t>
            </a:r>
          </a:p>
          <a:p xmlns:a="http://schemas.openxmlformats.org/drawingml/2006/main">
            <a:r>
              <a:t/>
            </a:r>
          </a:p>
          <a:p xmlns:a="http://schemas.openxmlformats.org/drawingml/2006/main">
            <a:r>
              <a:t>Owner and clerk selection is a demonstration feature. The prototype does not implement production authentication.</a:t>
            </a:r>
          </a:p>
          <a:p xmlns:a="http://schemas.openxmlformats.org/drawingml/2006/main">
            <a:r>
              <a:t/>
            </a:r>
          </a:p>
          <a:p xmlns:a="http://schemas.openxmlformats.org/drawingml/2006/main">
            <a:r>
              <a:t>Source: team application and synthetic demo inventory. https://github.com/Adilkrab/Hackstreet-Boys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accepts CSV and XLSX product lists with the required fields. It validates the file and previews errors before confirmation. Import creates new products and rejects duplicate or existing SKUs. A failed import does not partially save products. It does not overwrite existing inventory quantities.</a:t>
            </a:r>
          </a:p>
          <a:p xmlns:a="http://schemas.openxmlformats.org/drawingml/2006/main">
            <a:r>
              <a:t/>
            </a:r>
          </a:p>
          <a:p xmlns:a="http://schemas.openxmlformats.org/drawingml/2006/main">
            <a:r>
              <a:t>The current onboarding format needs validation with shop users and their existing spreadsheets.</a:t>
            </a:r>
          </a:p>
          <a:p xmlns:a="http://schemas.openxmlformats.org/drawingml/2006/main">
            <a:r>
              <a:t/>
            </a:r>
          </a:p>
          <a:p xmlns:a="http://schemas.openxmlformats.org/drawingml/2006/main">
            <a:r>
              <a:t>Source: import service and interface in the team repository. https://github.com/Adilkrab/Hackstreet-Boys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and Vite provide the interface. FastAPI handles API requests, validation and workflow decisions. SQLAlchemy stores inventory records in SQLite. The most recent local integration check passed 57 backend tests, including workflow boundaries, stale approvals and rollback behavior. That test result does not constitute a production audit.</a:t>
            </a:r>
          </a:p>
          <a:p xmlns:a="http://schemas.openxmlformats.org/drawingml/2006/main">
            <a:r>
              <a:t/>
            </a:r>
          </a:p>
          <a:p xmlns:a="http://schemas.openxmlformats.org/drawingml/2006/main">
            <a:r>
              <a:t>Replit hosts the accessible prototype. The live interface was checked on 24 October 2026. https://sme-inventory-workflow-backend.replit.app/team-preview/</a:t>
            </a:r>
          </a:p>
          <a:p xmlns:a="http://schemas.openxmlformats.org/drawingml/2006/main">
            <a:r>
              <a:t/>
            </a:r>
          </a:p>
          <a:p xmlns:a="http://schemas.openxmlformats.org/drawingml/2006/main">
            <a:r>
              <a:t>Runtime automation uses explicit Python rules. No AI model, GPU workload or RunPod service runs in the prototype. Owner/clerk switching and Orbyte sync are simulated.</a:t>
            </a:r>
          </a:p>
          <a:p xmlns:a="http://schemas.openxmlformats.org/drawingml/2006/main">
            <a:r>
              <a:t/>
            </a:r>
          </a:p>
          <a:p xmlns:a="http://schemas.openxmlformats.org/drawingml/2006/main">
            <a:r>
              <a:t>Source: team repository and technical declaration. https://github.com/Adilkrab/Hackstreet-Boys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include less manual follow-up and clearer records of inventory corrections. These are hypotheses for a pilot. No measured productivity gain is claimed. A pilot should track time to resolve discrepancies, unresolved requests and decisions with a recorded reason.</a:t>
            </a:r>
          </a:p>
          <a:p xmlns:a="http://schemas.openxmlformats.org/drawingml/2006/main">
            <a:r>
              <a:t/>
            </a:r>
          </a:p>
          <a:p xmlns:a="http://schemas.openxmlformats.org/drawingml/2006/main">
            <a:r>
              <a:t>The team's selected track is SDG 8: Decent Work and Economic Growth. Target 8.2 concerns productivity through technological upgrading and innovation. Target 8.3 includes support for micro, small and medium enterprises. These targets provide the basis for the project's proposed contribution.</a:t>
            </a:r>
          </a:p>
          <a:p xmlns:a="http://schemas.openxmlformats.org/drawingml/2006/main">
            <a:r>
              <a:t/>
            </a:r>
          </a:p>
          <a:p xmlns:a="http://schemas.openxmlformats.org/drawingml/2006/main">
            <a:r>
              <a:t>Sources: team preliminary project proposal. United Nations Goal 8: https://sdgs.un.org/goals/goal8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stage is to test the workflow with shop owners, evaluate the approval thresholds and improve onboarding using their feedback. Production authentication and an actual Orbyte connection remain future work. Planned AI summaries and pattern detection would provide recommendations while owners retain approval authority.</a:t>
            </a:r>
          </a:p>
          <a:p xmlns:a="http://schemas.openxmlformats.org/drawingml/2006/main">
            <a:r>
              <a:t/>
            </a:r>
          </a:p>
          <a:p xmlns:a="http://schemas.openxmlformats.org/drawingml/2006/main">
            <a:r>
              <a:t>Live prototype: https://sme-inventory-workflow-backend.replit.app/team-preview/</a:t>
            </a:r>
          </a:p>
          <a:p xmlns:a="http://schemas.openxmlformats.org/drawingml/2006/main">
            <a:r>
              <a:t>Source code: https://github.com/Adilkrab/Hackstreet-Boys</a:t>
            </a:r>
          </a:p>
          <a:p xmlns:a="http://schemas.openxmlformats.org/drawingml/2006/main">
            <a:r>
              <a:t/>
            </a:r>
          </a:p>
          <a:p xmlns:a="http://schemas.openxmlformats.org/drawingml/2006/main">
            <a:r>
              <a:t>Source: team preliminary project proposal and technical declaration.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508dedddae44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f23bf69ca04385" /><Relationship Type="http://schemas.openxmlformats.org/officeDocument/2006/relationships/slideLayout" Target="/ppt/slideLayouts/slideLayout1.xml" Id="R43915983234f4c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915983234f4c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88ba07f5244f0d" /><Relationship Type="http://schemas.openxmlformats.org/officeDocument/2006/relationships/notesSlide" Target="/ppt/notesSlides/notesSlide1.xml" Id="Rb6c3bfeec0844e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9e2a45a5864159" /><Relationship Type="http://schemas.openxmlformats.org/officeDocument/2006/relationships/notesSlide" Target="/ppt/notesSlides/notesSlide2.xml" Id="R80383fda94e74b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44b8ae69ed4d86" /><Relationship Type="http://schemas.openxmlformats.org/officeDocument/2006/relationships/image" Target="/ppt/media/image.jpeg" Id="R7d5f4f62d2454949" /><Relationship Type="http://schemas.openxmlformats.org/officeDocument/2006/relationships/notesSlide" Target="/ppt/notesSlides/notesSlide3.xml" Id="R4d445fb90c6d46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ebf626eca74de2" /><Relationship Type="http://schemas.openxmlformats.org/officeDocument/2006/relationships/notesSlide" Target="/ppt/notesSlides/notesSlide4.xml" Id="Rb5cfab81985849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aa05e4591b4728" /><Relationship Type="http://schemas.openxmlformats.org/officeDocument/2006/relationships/image" Target="/ppt/media/image2.jpeg" Id="Rbcf1a5a477ab424c" /><Relationship Type="http://schemas.openxmlformats.org/officeDocument/2006/relationships/notesSlide" Target="/ppt/notesSlides/notesSlide5.xml" Id="Rd284d545a69a40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d393a4dfbd498c" /><Relationship Type="http://schemas.openxmlformats.org/officeDocument/2006/relationships/image" Target="/ppt/media/image3.jpeg" Id="R196287db872f4c95" /><Relationship Type="http://schemas.openxmlformats.org/officeDocument/2006/relationships/notesSlide" Target="/ppt/notesSlides/notesSlide6.xml" Id="R9e69334ff9cb45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fd48808cec475b" /><Relationship Type="http://schemas.openxmlformats.org/officeDocument/2006/relationships/image" Target="/ppt/media/image4.jpeg" Id="R00c18d50171b45c8" /><Relationship Type="http://schemas.openxmlformats.org/officeDocument/2006/relationships/notesSlide" Target="/ppt/notesSlides/notesSlide7.xml" Id="R5b9e4166a4df48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7bebd418bb4b7d" /><Relationship Type="http://schemas.openxmlformats.org/officeDocument/2006/relationships/notesSlide" Target="/ppt/notesSlides/notesSlide8.xml" Id="R1dbffa5160aa4e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dd4ce00e314f7d" /><Relationship Type="http://schemas.openxmlformats.org/officeDocument/2006/relationships/notesSlide" Target="/ppt/notesSlides/notesSlide9.xml" Id="Re14943cc11a145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13ed929b96494f" /><Relationship Type="http://schemas.openxmlformats.org/officeDocument/2006/relationships/notesSlide" Target="/ppt/notesSlides/notesSlide10.xml" Id="Rab4330fedaa44629" /></Relationships>
</file>

<file path=ppt/slides/slide1.xml><?xml version="1.0" encoding="utf-8"?>
<p:sld xmlns:p="http://schemas.openxmlformats.org/presentationml/2006/main">
  <p:cSld>
    <p:bg>
      <p:bgPr>
        <a:solidFill xmlns:a="http://schemas.openxmlformats.org/drawingml/2006/main">
          <a:srgbClr val="143B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7D6487-F2DA-4D7F-9A5A-452A1AB42B2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D0E5D9"/>
                </a:solidFill>
                <a:latin typeface="Arial"/>
                <a:ea typeface="Arial"/>
                <a:cs typeface="Arial"/>
              </a:defRPr>
            </a:pPr>
            <a:r>
              <a:rPr sz="1350" b="1">
                <a:solidFill>
                  <a:srgbClr val="D0E5D9"/>
                </a:solidFill>
                <a:latin typeface="Arial"/>
                <a:ea typeface="Arial"/>
                <a:cs typeface="Arial"/>
              </a:rPr>
              <a:t>SDC HACKATHON 2026</a:t>
            </a:r>
          </a:p>
        </p:txBody>
      </p:sp>
      <p:sp>
        <p:nvSpPr>
          <p:cNvPr id="2" name="">
            <a:extLst xmlns:a="http://schemas.openxmlformats.org/drawingml/2006/main">
              <a:ext uri="{FF2B5EF4-FFF2-40B4-BE49-F238E27FC236}">
                <a16:creationId xmlns:a16="http://schemas.microsoft.com/office/drawing/2014/main" id="{53CC302E-9B4A-482E-9786-86A34B9EC22B}"/>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D0E5D9"/>
                </a:solidFill>
                <a:latin typeface="Arial"/>
                <a:ea typeface="Arial"/>
                <a:cs typeface="Arial"/>
              </a:defRPr>
            </a:pPr>
            <a:r>
              <a:rPr sz="1200" b="0">
                <a:solidFill>
                  <a:srgbClr val="D0E5D9"/>
                </a:solidFill>
                <a:latin typeface="Arial"/>
                <a:ea typeface="Arial"/>
                <a:cs typeface="Arial"/>
              </a:rPr>
              <a:t>Hackstreet Boys</a:t>
            </a:r>
          </a:p>
        </p:txBody>
      </p:sp>
      <p:sp>
        <p:nvSpPr>
          <p:cNvPr id="3" name="">
            <a:extLst xmlns:a="http://schemas.openxmlformats.org/drawingml/2006/main">
              <a:ext uri="{FF2B5EF4-FFF2-40B4-BE49-F238E27FC236}">
                <a16:creationId xmlns:a16="http://schemas.microsoft.com/office/drawing/2014/main" id="{0ED095EA-057D-4CF8-8416-B4F52FEA1F75}"/>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D0E5D9"/>
                </a:solidFill>
                <a:latin typeface="Arial"/>
                <a:ea typeface="Arial"/>
                <a:cs typeface="Arial"/>
              </a:defRPr>
            </a:pPr>
            <a:r>
              <a:rPr sz="1200" b="0">
                <a:solidFill>
                  <a:srgbClr val="D0E5D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AC5E3DA-A106-4A89-9B2B-1F271B4AB33F}"/>
              </a:ext>
            </a:extLst>
          </p:cNvPr>
          <p:cNvSpPr>
            <a:spLocks xmlns:a="http://schemas.openxmlformats.org/drawingml/2006/main" noGrp="1"/>
          </p:cNvSpPr>
          <p:nvPr/>
        </p:nvSpPr>
        <p:spPr>
          <a:xfrm xmlns:a="http://schemas.openxmlformats.org/drawingml/2006/main">
            <a:off x="609600" y="1714500"/>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FFFFFF"/>
                </a:solidFill>
                <a:latin typeface="Arial"/>
                <a:ea typeface="Arial"/>
                <a:cs typeface="Arial"/>
              </a:defRPr>
            </a:pPr>
            <a:r>
              <a:rPr sz="6600" b="1">
                <a:solidFill>
                  <a:srgbClr val="FFFFFF"/>
                </a:solidFill>
                <a:latin typeface="Arial"/>
                <a:ea typeface="Arial"/>
                <a:cs typeface="Arial"/>
              </a:rPr>
              <a:t>Stock Manager</a:t>
            </a:r>
          </a:p>
        </p:txBody>
      </p:sp>
      <p:sp>
        <p:nvSpPr>
          <p:cNvPr id="5" name="">
            <a:extLst xmlns:a="http://schemas.openxmlformats.org/drawingml/2006/main">
              <a:ext uri="{FF2B5EF4-FFF2-40B4-BE49-F238E27FC236}">
                <a16:creationId xmlns:a16="http://schemas.microsoft.com/office/drawing/2014/main" id="{FE6A1480-73D9-4C27-A3D1-12FC3DE16B01}"/>
              </a:ext>
            </a:extLst>
          </p:cNvPr>
          <p:cNvSpPr>
            <a:spLocks xmlns:a="http://schemas.openxmlformats.org/drawingml/2006/main" noGrp="1"/>
          </p:cNvSpPr>
          <p:nvPr/>
        </p:nvSpPr>
        <p:spPr>
          <a:xfrm xmlns:a="http://schemas.openxmlformats.org/drawingml/2006/main">
            <a:off x="657225" y="3143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D0E5D9"/>
                </a:solidFill>
                <a:latin typeface="Arial"/>
                <a:ea typeface="Arial"/>
                <a:cs typeface="Arial"/>
              </a:defRPr>
            </a:pPr>
            <a:r>
              <a:rPr sz="3150" b="0">
                <a:solidFill>
                  <a:srgbClr val="D0E5D9"/>
                </a:solidFill>
                <a:latin typeface="Arial"/>
                <a:ea typeface="Arial"/>
                <a:cs typeface="Arial"/>
              </a:rPr>
              <a:t>Inventory counts and owner approvals</a:t>
            </a:r>
          </a:p>
          <a:p xmlns:a="http://schemas.openxmlformats.org/drawingml/2006/main">
            <a:pPr>
              <a:buNone/>
              <a:defRPr sz="3150" b="0">
                <a:solidFill>
                  <a:srgbClr val="D0E5D9"/>
                </a:solidFill>
                <a:latin typeface="Arial"/>
                <a:ea typeface="Arial"/>
                <a:cs typeface="Arial"/>
              </a:defRPr>
            </a:pPr>
            <a:r>
              <a:rPr sz="3150" b="0">
                <a:solidFill>
                  <a:srgbClr val="D0E5D9"/>
                </a:solidFill>
                <a:latin typeface="Arial"/>
                <a:ea typeface="Arial"/>
                <a:cs typeface="Arial"/>
              </a:rPr>
              <a:t>for Malaysian small shops</a:t>
            </a:r>
          </a:p>
        </p:txBody>
      </p:sp>
      <p:sp>
        <p:nvSpPr>
          <p:cNvPr id="6" name="">
            <a:extLst xmlns:a="http://schemas.openxmlformats.org/drawingml/2006/main">
              <a:ext uri="{FF2B5EF4-FFF2-40B4-BE49-F238E27FC236}">
                <a16:creationId xmlns:a16="http://schemas.microsoft.com/office/drawing/2014/main" id="{25F3C1EB-2417-4057-AA75-15609AB7BB58}"/>
              </a:ext>
            </a:extLst>
          </p:cNvPr>
          <p:cNvSpPr>
            <a:spLocks xmlns:a="http://schemas.openxmlformats.org/drawingml/2006/main" noGrp="1"/>
          </p:cNvSpPr>
          <p:nvPr/>
        </p:nvSpPr>
        <p:spPr>
          <a:xfrm xmlns:a="http://schemas.openxmlformats.org/drawingml/2006/main">
            <a:off x="657225" y="53816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FFFFF"/>
                </a:solidFill>
                <a:latin typeface="Arial"/>
                <a:ea typeface="Arial"/>
                <a:cs typeface="Arial"/>
              </a:defRPr>
            </a:pPr>
            <a:r>
              <a:rPr sz="2250" b="1">
                <a:solidFill>
                  <a:srgbClr val="FFFFFF"/>
                </a:solidFill>
                <a:latin typeface="Arial"/>
                <a:ea typeface="Arial"/>
                <a:cs typeface="Arial"/>
              </a:rPr>
              <a:t>Hackstreet Boys</a:t>
            </a:r>
          </a:p>
        </p:txBody>
      </p:sp>
    </p:spTree>
    <p:extLst>
      <p:ext uri="{BB962C8B-B14F-4D97-AF65-F5344CB8AC3E}">
        <p14:creationId xmlns:p14="http://schemas.microsoft.com/office/powerpoint/2010/main" val="1180351157"/>
      </p:ext>
    </p:extLst>
  </p:cSld>
</p:sld>
</file>

<file path=ppt/slides/slide2.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3DF4AA-E3AE-452A-8BFD-C3F42B815A05}"/>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THE CUSTOMER</a:t>
            </a:r>
          </a:p>
        </p:txBody>
      </p:sp>
      <p:sp>
        <p:nvSpPr>
          <p:cNvPr id="2" name="">
            <a:extLst xmlns:a="http://schemas.openxmlformats.org/drawingml/2006/main">
              <a:ext uri="{FF2B5EF4-FFF2-40B4-BE49-F238E27FC236}">
                <a16:creationId xmlns:a16="http://schemas.microsoft.com/office/drawing/2014/main" id="{91964060-48BF-4365-B7D1-71454EEF41F2}"/>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The stock count follow-up problem</a:t>
            </a:r>
          </a:p>
        </p:txBody>
      </p:sp>
      <p:sp>
        <p:nvSpPr>
          <p:cNvPr id="3" name="">
            <a:extLst xmlns:a="http://schemas.openxmlformats.org/drawingml/2006/main">
              <a:ext uri="{FF2B5EF4-FFF2-40B4-BE49-F238E27FC236}">
                <a16:creationId xmlns:a16="http://schemas.microsoft.com/office/drawing/2014/main" id="{D195DE29-DCBF-4DAA-9A81-524BFA90AE24}"/>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BF0EC945-FC25-4E38-BA56-6AEA603C1E4C}"/>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A2A582B-B862-4E5A-A3E2-2E4C3F0F2D9F}"/>
              </a:ext>
            </a:extLst>
          </p:cNvPr>
          <p:cNvSpPr>
            <a:spLocks xmlns:a="http://schemas.openxmlformats.org/drawingml/2006/main" noGrp="1"/>
          </p:cNvSpPr>
          <p:nvPr/>
        </p:nvSpPr>
        <p:spPr>
          <a:xfrm xmlns:a="http://schemas.openxmlformats.org/drawingml/2006/main">
            <a:off x="609600" y="2124075"/>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A clerk counts fewer items</a:t>
            </a:r>
          </a:p>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than the spreadsheet shows.</a:t>
            </a:r>
          </a:p>
        </p:txBody>
      </p:sp>
      <p:sp>
        <p:nvSpPr>
          <p:cNvPr id="6" name="">
            <a:extLst xmlns:a="http://schemas.openxmlformats.org/drawingml/2006/main">
              <a:ext uri="{FF2B5EF4-FFF2-40B4-BE49-F238E27FC236}">
                <a16:creationId xmlns:a16="http://schemas.microsoft.com/office/drawing/2014/main" id="{52FC7FE3-9219-40FF-8632-79E3B3802267}"/>
              </a:ext>
            </a:extLst>
          </p:cNvPr>
          <p:cNvSpPr>
            <a:spLocks xmlns:a="http://schemas.openxmlformats.org/drawingml/2006/main" noGrp="1"/>
          </p:cNvSpPr>
          <p:nvPr/>
        </p:nvSpPr>
        <p:spPr>
          <a:xfrm xmlns:a="http://schemas.openxmlformats.org/drawingml/2006/main">
            <a:off x="609600" y="38385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526B62"/>
                </a:solidFill>
                <a:latin typeface="Arial"/>
                <a:ea typeface="Arial"/>
                <a:cs typeface="Arial"/>
              </a:defRPr>
            </a:pPr>
            <a:r>
              <a:rPr sz="2400" b="0">
                <a:solidFill>
                  <a:srgbClr val="526B62"/>
                </a:solidFill>
                <a:latin typeface="Arial"/>
                <a:ea typeface="Arial"/>
                <a:cs typeface="Arial"/>
              </a:rPr>
              <a:t>The owner must check the difference, make a decision</a:t>
            </a:r>
          </a:p>
          <a:p xmlns:a="http://schemas.openxmlformats.org/drawingml/2006/main">
            <a:pPr>
              <a:buNone/>
              <a:defRPr sz="2400" b="0">
                <a:solidFill>
                  <a:srgbClr val="526B62"/>
                </a:solidFill>
                <a:latin typeface="Arial"/>
                <a:ea typeface="Arial"/>
                <a:cs typeface="Arial"/>
              </a:defRPr>
            </a:pPr>
            <a:r>
              <a:rPr sz="2400" b="0">
                <a:solidFill>
                  <a:srgbClr val="526B62"/>
                </a:solidFill>
                <a:latin typeface="Arial"/>
                <a:ea typeface="Arial"/>
                <a:cs typeface="Arial"/>
              </a:rPr>
              <a:t>and ensure someone updates the stock record.</a:t>
            </a:r>
          </a:p>
        </p:txBody>
      </p:sp>
      <p:sp>
        <p:nvSpPr>
          <p:cNvPr id="7" name="">
            <a:extLst xmlns:a="http://schemas.openxmlformats.org/drawingml/2006/main">
              <a:ext uri="{FF2B5EF4-FFF2-40B4-BE49-F238E27FC236}">
                <a16:creationId xmlns:a16="http://schemas.microsoft.com/office/drawing/2014/main" id="{E2E2B1FB-FE06-4703-912B-205446F329EA}"/>
              </a:ext>
            </a:extLst>
          </p:cNvPr>
          <p:cNvSpPr>
            <a:spLocks xmlns:a="http://schemas.openxmlformats.org/drawingml/2006/main" noGrp="1"/>
          </p:cNvSpPr>
          <p:nvPr/>
        </p:nvSpPr>
        <p:spPr>
          <a:xfrm xmlns:a="http://schemas.openxmlformats.org/drawingml/2006/main">
            <a:off x="609600" y="5610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D62"/>
                </a:solidFill>
                <a:latin typeface="Arial"/>
                <a:ea typeface="Arial"/>
                <a:cs typeface="Arial"/>
              </a:defRPr>
            </a:pPr>
            <a:r>
              <a:rPr sz="1875" b="1">
                <a:solidFill>
                  <a:srgbClr val="087D62"/>
                </a:solidFill>
                <a:latin typeface="Arial"/>
                <a:ea typeface="Arial"/>
                <a:cs typeface="Arial"/>
              </a:rPr>
              <a:t>Target users: Malaysian micro and small business teams</a:t>
            </a:r>
          </a:p>
        </p:txBody>
      </p:sp>
    </p:spTree>
    <p:extLst>
      <p:ext uri="{BB962C8B-B14F-4D97-AF65-F5344CB8AC3E}">
        <p14:creationId xmlns:p14="http://schemas.microsoft.com/office/powerpoint/2010/main" val="1616261148"/>
      </p:ext>
    </p:extLst>
  </p:cSld>
</p:sld>
</file>

<file path=ppt/slides/slide3.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E998E0-1888-452C-B362-A52396512C6A}"/>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THE PROTOTYPE</a:t>
            </a:r>
          </a:p>
        </p:txBody>
      </p:sp>
      <p:sp>
        <p:nvSpPr>
          <p:cNvPr id="2" name="">
            <a:extLst xmlns:a="http://schemas.openxmlformats.org/drawingml/2006/main">
              <a:ext uri="{FF2B5EF4-FFF2-40B4-BE49-F238E27FC236}">
                <a16:creationId xmlns:a16="http://schemas.microsoft.com/office/drawing/2014/main" id="{97ED328D-68B0-4823-96C5-37B33D3CA71B}"/>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Inventory and follow-up in one place</a:t>
            </a:r>
          </a:p>
        </p:txBody>
      </p:sp>
      <p:sp>
        <p:nvSpPr>
          <p:cNvPr id="3" name="">
            <a:extLst xmlns:a="http://schemas.openxmlformats.org/drawingml/2006/main">
              <a:ext uri="{FF2B5EF4-FFF2-40B4-BE49-F238E27FC236}">
                <a16:creationId xmlns:a16="http://schemas.microsoft.com/office/drawing/2014/main" id="{51A8D907-09B6-4FA9-ABF7-E7793E15D5E6}"/>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9438E393-D35B-47A3-95DC-9449EC56248B}"/>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D292BD1-E8E7-4FEB-AB28-E82F8066B14A}"/>
              </a:ext>
            </a:extLst>
          </p:cNvPr>
          <p:cNvSpPr>
            <a:spLocks xmlns:a="http://schemas.openxmlformats.org/drawingml/2006/main" noGrp="1"/>
          </p:cNvSpPr>
          <p:nvPr/>
        </p:nvSpPr>
        <p:spPr>
          <a:xfrm xmlns:a="http://schemas.openxmlformats.org/drawingml/2006/main">
            <a:off x="609600" y="216217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43B32"/>
                </a:solidFill>
                <a:latin typeface="Arial"/>
                <a:ea typeface="Arial"/>
                <a:cs typeface="Arial"/>
              </a:defRPr>
            </a:pPr>
            <a:r>
              <a:rPr sz="2550" b="1">
                <a:solidFill>
                  <a:srgbClr val="143B32"/>
                </a:solidFill>
                <a:latin typeface="Arial"/>
                <a:ea typeface="Arial"/>
                <a:cs typeface="Arial"/>
              </a:rPr>
              <a:t>Pending decisions</a:t>
            </a:r>
          </a:p>
          <a:p xmlns:a="http://schemas.openxmlformats.org/drawingml/2006/main">
            <a:pPr>
              <a:buNone/>
              <a:defRPr sz="2550" b="1">
                <a:solidFill>
                  <a:srgbClr val="143B32"/>
                </a:solidFill>
                <a:latin typeface="Arial"/>
                <a:ea typeface="Arial"/>
                <a:cs typeface="Arial"/>
              </a:defRPr>
            </a:pPr>
            <a:r>
              <a:rPr sz="2550" b="1">
                <a:solidFill>
                  <a:srgbClr val="143B32"/>
                </a:solidFill>
                <a:latin typeface="Arial"/>
                <a:ea typeface="Arial"/>
                <a:cs typeface="Arial"/>
              </a:rPr>
              <a:t>and low-stock warnings</a:t>
            </a:r>
          </a:p>
        </p:txBody>
      </p:sp>
      <p:sp>
        <p:nvSpPr>
          <p:cNvPr id="6" name="">
            <a:extLst xmlns:a="http://schemas.openxmlformats.org/drawingml/2006/main">
              <a:ext uri="{FF2B5EF4-FFF2-40B4-BE49-F238E27FC236}">
                <a16:creationId xmlns:a16="http://schemas.microsoft.com/office/drawing/2014/main" id="{467DA179-B49A-4C57-B851-450E342697EA}"/>
              </a:ext>
            </a:extLst>
          </p:cNvPr>
          <p:cNvSpPr>
            <a:spLocks xmlns:a="http://schemas.openxmlformats.org/drawingml/2006/main" noGrp="1"/>
          </p:cNvSpPr>
          <p:nvPr/>
        </p:nvSpPr>
        <p:spPr>
          <a:xfrm xmlns:a="http://schemas.openxmlformats.org/drawingml/2006/main">
            <a:off x="609600" y="39243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B62"/>
                </a:solidFill>
                <a:latin typeface="Arial"/>
                <a:ea typeface="Arial"/>
                <a:cs typeface="Arial"/>
              </a:defRPr>
            </a:pPr>
            <a:r>
              <a:rPr sz="2100" b="0">
                <a:solidFill>
                  <a:srgbClr val="526B62"/>
                </a:solidFill>
                <a:latin typeface="Arial"/>
                <a:ea typeface="Arial"/>
                <a:cs typeface="Arial"/>
              </a:rPr>
              <a:t>A shared record for</a:t>
            </a:r>
          </a:p>
          <a:p xmlns:a="http://schemas.openxmlformats.org/drawingml/2006/main">
            <a:pPr>
              <a:buNone/>
              <a:defRPr sz="2100" b="0">
                <a:solidFill>
                  <a:srgbClr val="526B62"/>
                </a:solidFill>
                <a:latin typeface="Arial"/>
                <a:ea typeface="Arial"/>
                <a:cs typeface="Arial"/>
              </a:defRPr>
            </a:pPr>
            <a:r>
              <a:rPr sz="2100" b="0">
                <a:solidFill>
                  <a:srgbClr val="526B62"/>
                </a:solidFill>
                <a:latin typeface="Arial"/>
                <a:ea typeface="Arial"/>
                <a:cs typeface="Arial"/>
              </a:rPr>
              <a:t>clerks and the owner</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d5f4f62d2454949"/>
          <a:stretch xmlns:a="http://schemas.openxmlformats.org/drawingml/2006/main"/>
        </p:blipFill>
        <p:spPr>
          <a:xfrm xmlns:a="http://schemas.openxmlformats.org/drawingml/2006/main">
            <a:off x="4191000" y="1853716"/>
            <a:ext cx="7391400" cy="4160219"/>
          </a:xfrm>
          <a:prstGeom xmlns:a="http://schemas.openxmlformats.org/drawingml/2006/main" prst="rect">
            <a:avLst/>
          </a:prstGeom>
        </p:spPr>
      </p:pic>
    </p:spTree>
    <p:extLst>
      <p:ext uri="{BB962C8B-B14F-4D97-AF65-F5344CB8AC3E}">
        <p14:creationId xmlns:p14="http://schemas.microsoft.com/office/powerpoint/2010/main" val="994380346"/>
      </p:ext>
    </p:extLst>
  </p:cSld>
</p:sld>
</file>

<file path=ppt/slides/slide4.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DB2CFD-4367-4033-A168-0848FE2AAD2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THE WORKFLOW</a:t>
            </a:r>
          </a:p>
        </p:txBody>
      </p:sp>
      <p:sp>
        <p:nvSpPr>
          <p:cNvPr id="2" name="">
            <a:extLst xmlns:a="http://schemas.openxmlformats.org/drawingml/2006/main">
              <a:ext uri="{FF2B5EF4-FFF2-40B4-BE49-F238E27FC236}">
                <a16:creationId xmlns:a16="http://schemas.microsoft.com/office/drawing/2014/main" id="{E5140D4C-099F-45B4-BF3A-0FF77EA8ECED}"/>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Rules for inventory corrections</a:t>
            </a:r>
          </a:p>
        </p:txBody>
      </p:sp>
      <p:sp>
        <p:nvSpPr>
          <p:cNvPr id="3" name="">
            <a:extLst xmlns:a="http://schemas.openxmlformats.org/drawingml/2006/main">
              <a:ext uri="{FF2B5EF4-FFF2-40B4-BE49-F238E27FC236}">
                <a16:creationId xmlns:a16="http://schemas.microsoft.com/office/drawing/2014/main" id="{F49112DD-0E78-4E1D-A40B-2DC6674A8ADA}"/>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B713F548-4B86-4648-9A63-DCFC0CCDE15A}"/>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66EF165-B238-40D8-951F-B3BB675A3280}"/>
              </a:ext>
            </a:extLst>
          </p:cNvPr>
          <p:cNvSpPr>
            <a:spLocks xmlns:a="http://schemas.openxmlformats.org/drawingml/2006/main" noGrp="1"/>
          </p:cNvSpPr>
          <p:nvPr/>
        </p:nvSpPr>
        <p:spPr>
          <a:xfrm xmlns:a="http://schemas.openxmlformats.org/drawingml/2006/main">
            <a:off x="609600" y="21145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D62"/>
                </a:solidFill>
                <a:latin typeface="Arial"/>
                <a:ea typeface="Arial"/>
                <a:cs typeface="Arial"/>
              </a:defRPr>
            </a:pPr>
            <a:r>
              <a:rPr sz="2700" b="1">
                <a:solidFill>
                  <a:srgbClr val="087D62"/>
                </a:solidFill>
                <a:latin typeface="Arial"/>
                <a:ea typeface="Arial"/>
                <a:cs typeface="Arial"/>
              </a:rPr>
              <a:t>Automatic correction</a:t>
            </a:r>
          </a:p>
        </p:txBody>
      </p:sp>
      <p:sp>
        <p:nvSpPr>
          <p:cNvPr id="6" name="">
            <a:extLst xmlns:a="http://schemas.openxmlformats.org/drawingml/2006/main">
              <a:ext uri="{FF2B5EF4-FFF2-40B4-BE49-F238E27FC236}">
                <a16:creationId xmlns:a16="http://schemas.microsoft.com/office/drawing/2014/main" id="{0AEB438F-5F24-4855-B059-86EAE4CF61DE}"/>
              </a:ext>
            </a:extLst>
          </p:cNvPr>
          <p:cNvSpPr>
            <a:spLocks xmlns:a="http://schemas.openxmlformats.org/drawingml/2006/main" noGrp="1"/>
          </p:cNvSpPr>
          <p:nvPr/>
        </p:nvSpPr>
        <p:spPr>
          <a:xfrm xmlns:a="http://schemas.openxmlformats.org/drawingml/2006/main">
            <a:off x="609600" y="3009900"/>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3B32"/>
                </a:solidFill>
                <a:latin typeface="Arial"/>
                <a:ea typeface="Arial"/>
                <a:cs typeface="Arial"/>
              </a:defRPr>
            </a:pPr>
            <a:r>
              <a:rPr sz="2250" b="0">
                <a:solidFill>
                  <a:srgbClr val="143B32"/>
                </a:solidFill>
                <a:latin typeface="Arial"/>
                <a:ea typeface="Arial"/>
                <a:cs typeface="Arial"/>
              </a:rPr>
              <a:t>Difference of at most 2 units</a:t>
            </a:r>
          </a:p>
          <a:p xmlns:a="http://schemas.openxmlformats.org/drawingml/2006/main">
            <a:pPr>
              <a:buNone/>
              <a:defRPr sz="2250" b="0">
                <a:solidFill>
                  <a:srgbClr val="143B32"/>
                </a:solidFill>
                <a:latin typeface="Arial"/>
                <a:ea typeface="Arial"/>
                <a:cs typeface="Arial"/>
              </a:defRPr>
            </a:pPr>
            <a:r>
              <a:rPr sz="2250" b="0">
                <a:solidFill>
                  <a:srgbClr val="143B32"/>
                </a:solidFill>
                <a:latin typeface="Arial"/>
                <a:ea typeface="Arial"/>
                <a:cs typeface="Arial"/>
              </a:rPr>
              <a:t>Value below RM50</a:t>
            </a:r>
          </a:p>
          <a:p xmlns:a="http://schemas.openxmlformats.org/drawingml/2006/main">
            <a:pPr>
              <a:buNone/>
              <a:defRPr sz="2250" b="0">
                <a:solidFill>
                  <a:srgbClr val="143B32"/>
                </a:solidFill>
                <a:latin typeface="Arial"/>
                <a:ea typeface="Arial"/>
                <a:cs typeface="Arial"/>
              </a:defRPr>
            </a:pPr>
            <a:r>
              <a:rPr sz="2250" b="0">
                <a:solidFill>
                  <a:srgbClr val="143B32"/>
                </a:solidFill>
                <a:latin typeface="Arial"/>
                <a:ea typeface="Arial"/>
                <a:cs typeface="Arial"/>
              </a:rPr>
              <a:t>Nonnegative physical count</a:t>
            </a:r>
          </a:p>
        </p:txBody>
      </p:sp>
      <p:sp>
        <p:nvSpPr>
          <p:cNvPr id="7" name="">
            <a:extLst xmlns:a="http://schemas.openxmlformats.org/drawingml/2006/main">
              <a:ext uri="{FF2B5EF4-FFF2-40B4-BE49-F238E27FC236}">
                <a16:creationId xmlns:a16="http://schemas.microsoft.com/office/drawing/2014/main" id="{875863ED-603D-4FCF-9E5A-AC35B890C5C7}"/>
              </a:ext>
            </a:extLst>
          </p:cNvPr>
          <p:cNvSpPr>
            <a:spLocks xmlns:a="http://schemas.openxmlformats.org/drawingml/2006/main" noGrp="1"/>
          </p:cNvSpPr>
          <p:nvPr/>
        </p:nvSpPr>
        <p:spPr>
          <a:xfrm xmlns:a="http://schemas.openxmlformats.org/drawingml/2006/main">
            <a:off x="6667500" y="2114550"/>
            <a:ext cx="490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43B32"/>
                </a:solidFill>
                <a:latin typeface="Arial"/>
                <a:ea typeface="Arial"/>
                <a:cs typeface="Arial"/>
              </a:defRPr>
            </a:pPr>
            <a:r>
              <a:rPr sz="2700" b="1">
                <a:solidFill>
                  <a:srgbClr val="143B32"/>
                </a:solidFill>
                <a:latin typeface="Arial"/>
                <a:ea typeface="Arial"/>
                <a:cs typeface="Arial"/>
              </a:rPr>
              <a:t>Owner decision</a:t>
            </a:r>
          </a:p>
        </p:txBody>
      </p:sp>
      <p:sp>
        <p:nvSpPr>
          <p:cNvPr id="8" name="">
            <a:extLst xmlns:a="http://schemas.openxmlformats.org/drawingml/2006/main">
              <a:ext uri="{FF2B5EF4-FFF2-40B4-BE49-F238E27FC236}">
                <a16:creationId xmlns:a16="http://schemas.microsoft.com/office/drawing/2014/main" id="{972CFEE9-5A6F-41ED-810B-DE1050422DEE}"/>
              </a:ext>
            </a:extLst>
          </p:cNvPr>
          <p:cNvSpPr>
            <a:spLocks xmlns:a="http://schemas.openxmlformats.org/drawingml/2006/main" noGrp="1"/>
          </p:cNvSpPr>
          <p:nvPr/>
        </p:nvSpPr>
        <p:spPr>
          <a:xfrm xmlns:a="http://schemas.openxmlformats.org/drawingml/2006/main">
            <a:off x="6667500" y="3009900"/>
            <a:ext cx="4905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526B62"/>
                </a:solidFill>
                <a:latin typeface="Arial"/>
                <a:ea typeface="Arial"/>
                <a:cs typeface="Arial"/>
              </a:defRPr>
            </a:pPr>
            <a:r>
              <a:rPr sz="2250" b="0">
                <a:solidFill>
                  <a:srgbClr val="526B62"/>
                </a:solidFill>
                <a:latin typeface="Arial"/>
                <a:ea typeface="Arial"/>
                <a:cs typeface="Arial"/>
              </a:rPr>
              <a:t>Larger discrepancies wait</a:t>
            </a:r>
          </a:p>
          <a:p xmlns:a="http://schemas.openxmlformats.org/drawingml/2006/main">
            <a:pPr>
              <a:buNone/>
              <a:defRPr sz="2250" b="0">
                <a:solidFill>
                  <a:srgbClr val="526B62"/>
                </a:solidFill>
                <a:latin typeface="Arial"/>
                <a:ea typeface="Arial"/>
                <a:cs typeface="Arial"/>
              </a:defRPr>
            </a:pPr>
            <a:r>
              <a:rPr sz="2250" b="0">
                <a:solidFill>
                  <a:srgbClr val="526B62"/>
                </a:solidFill>
                <a:latin typeface="Arial"/>
                <a:ea typeface="Arial"/>
                <a:cs typeface="Arial"/>
              </a:rPr>
              <a:t>for approval or rejection.</a:t>
            </a:r>
          </a:p>
          <a:p xmlns:a="http://schemas.openxmlformats.org/drawingml/2006/main">
            <a:pPr>
              <a:buNone/>
              <a:defRPr sz="2250" b="0">
                <a:solidFill>
                  <a:srgbClr val="526B62"/>
                </a:solidFill>
                <a:latin typeface="Arial"/>
                <a:ea typeface="Arial"/>
                <a:cs typeface="Arial"/>
              </a:defRPr>
            </a:pPr>
            <a:r>
              <a:rPr sz="2250" b="0">
                <a:solidFill>
                  <a:srgbClr val="526B62"/>
                </a:solidFill>
                <a:latin typeface="Arial"/>
                <a:ea typeface="Arial"/>
                <a:cs typeface="Arial"/>
              </a:rPr>
              <a:t>The activity log records the outcome.</a:t>
            </a:r>
          </a:p>
        </p:txBody>
      </p:sp>
      <p:sp>
        <p:nvSpPr>
          <p:cNvPr id="9" name="">
            <a:extLst xmlns:a="http://schemas.openxmlformats.org/drawingml/2006/main">
              <a:ext uri="{FF2B5EF4-FFF2-40B4-BE49-F238E27FC236}">
                <a16:creationId xmlns:a16="http://schemas.microsoft.com/office/drawing/2014/main" id="{4374795B-C332-44ED-8256-FD8EDFE639A5}"/>
              </a:ext>
            </a:extLst>
          </p:cNvPr>
          <p:cNvSpPr>
            <a:spLocks xmlns:a="http://schemas.openxmlformats.org/drawingml/2006/main" noGrp="1"/>
          </p:cNvSpPr>
          <p:nvPr/>
        </p:nvSpPr>
        <p:spPr>
          <a:xfrm xmlns:a="http://schemas.openxmlformats.org/drawingml/2006/main">
            <a:off x="609600" y="55911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D62"/>
                </a:solidFill>
                <a:latin typeface="Arial"/>
                <a:ea typeface="Arial"/>
                <a:cs typeface="Arial"/>
              </a:defRPr>
            </a:pPr>
            <a:r>
              <a:rPr sz="2175" b="1">
                <a:solidFill>
                  <a:srgbClr val="087D62"/>
                </a:solidFill>
                <a:latin typeface="Arial"/>
                <a:ea typeface="Arial"/>
                <a:cs typeface="Arial"/>
              </a:rPr>
              <a:t>Stock and its history update together</a:t>
            </a:r>
          </a:p>
        </p:txBody>
      </p:sp>
    </p:spTree>
    <p:extLst>
      <p:ext uri="{BB962C8B-B14F-4D97-AF65-F5344CB8AC3E}">
        <p14:creationId xmlns:p14="http://schemas.microsoft.com/office/powerpoint/2010/main" val="1186340154"/>
      </p:ext>
    </p:extLst>
  </p:cSld>
</p:sld>
</file>

<file path=ppt/slides/slide5.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BD1D80-BEA2-4C7E-9BA2-6B60AF4E632B}"/>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DEMO: CLERK COUNT</a:t>
            </a:r>
          </a:p>
        </p:txBody>
      </p:sp>
      <p:sp>
        <p:nvSpPr>
          <p:cNvPr id="2" name="">
            <a:extLst xmlns:a="http://schemas.openxmlformats.org/drawingml/2006/main">
              <a:ext uri="{FF2B5EF4-FFF2-40B4-BE49-F238E27FC236}">
                <a16:creationId xmlns:a16="http://schemas.microsoft.com/office/drawing/2014/main" id="{B503DB91-9E1F-4373-B066-108E33E5C093}"/>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A small discrepancy</a:t>
            </a:r>
          </a:p>
        </p:txBody>
      </p:sp>
      <p:sp>
        <p:nvSpPr>
          <p:cNvPr id="3" name="">
            <a:extLst xmlns:a="http://schemas.openxmlformats.org/drawingml/2006/main">
              <a:ext uri="{FF2B5EF4-FFF2-40B4-BE49-F238E27FC236}">
                <a16:creationId xmlns:a16="http://schemas.microsoft.com/office/drawing/2014/main" id="{4A95D42C-3613-4AD2-830A-17B1F1BABF26}"/>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533036EC-03BC-45E4-B211-AD00E402483E}"/>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66A4D32-DAB7-47FF-ABD3-E547D0B08A52}"/>
              </a:ext>
            </a:extLst>
          </p:cNvPr>
          <p:cNvSpPr>
            <a:spLocks xmlns:a="http://schemas.openxmlformats.org/drawingml/2006/main" noGrp="1"/>
          </p:cNvSpPr>
          <p:nvPr/>
        </p:nvSpPr>
        <p:spPr>
          <a:xfrm xmlns:a="http://schemas.openxmlformats.org/drawingml/2006/main">
            <a:off x="609600" y="2171700"/>
            <a:ext cx="314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79 system</a:t>
            </a:r>
          </a:p>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78 counted</a:t>
            </a:r>
          </a:p>
        </p:txBody>
      </p:sp>
      <p:sp>
        <p:nvSpPr>
          <p:cNvPr id="6" name="">
            <a:extLst xmlns:a="http://schemas.openxmlformats.org/drawingml/2006/main">
              <a:ext uri="{FF2B5EF4-FFF2-40B4-BE49-F238E27FC236}">
                <a16:creationId xmlns:a16="http://schemas.microsoft.com/office/drawing/2014/main" id="{F8C91E59-DAAE-444A-87FE-A3DB4BE0A76A}"/>
              </a:ext>
            </a:extLst>
          </p:cNvPr>
          <p:cNvSpPr>
            <a:spLocks xmlns:a="http://schemas.openxmlformats.org/drawingml/2006/main" noGrp="1"/>
          </p:cNvSpPr>
          <p:nvPr/>
        </p:nvSpPr>
        <p:spPr>
          <a:xfrm xmlns:a="http://schemas.openxmlformats.org/drawingml/2006/main">
            <a:off x="609600" y="3971925"/>
            <a:ext cx="319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87D62"/>
                </a:solidFill>
                <a:latin typeface="Arial"/>
                <a:ea typeface="Arial"/>
                <a:cs typeface="Arial"/>
              </a:defRPr>
            </a:pPr>
            <a:r>
              <a:rPr sz="2250" b="1">
                <a:solidFill>
                  <a:srgbClr val="087D62"/>
                </a:solidFill>
                <a:latin typeface="Arial"/>
                <a:ea typeface="Arial"/>
                <a:cs typeface="Arial"/>
              </a:rPr>
              <a:t>1 unit</a:t>
            </a:r>
          </a:p>
          <a:p xmlns:a="http://schemas.openxmlformats.org/drawingml/2006/main">
            <a:pPr>
              <a:buNone/>
              <a:defRPr sz="2250" b="1">
                <a:solidFill>
                  <a:srgbClr val="087D62"/>
                </a:solidFill>
                <a:latin typeface="Arial"/>
                <a:ea typeface="Arial"/>
                <a:cs typeface="Arial"/>
              </a:defRPr>
            </a:pPr>
            <a:r>
              <a:rPr sz="2250" b="1">
                <a:solidFill>
                  <a:srgbClr val="087D62"/>
                </a:solidFill>
                <a:latin typeface="Arial"/>
                <a:ea typeface="Arial"/>
                <a:cs typeface="Arial"/>
              </a:rPr>
              <a:t>RM5.80 difference</a:t>
            </a:r>
          </a:p>
        </p:txBody>
      </p:sp>
      <p:sp>
        <p:nvSpPr>
          <p:cNvPr id="7" name="">
            <a:extLst xmlns:a="http://schemas.openxmlformats.org/drawingml/2006/main">
              <a:ext uri="{FF2B5EF4-FFF2-40B4-BE49-F238E27FC236}">
                <a16:creationId xmlns:a16="http://schemas.microsoft.com/office/drawing/2014/main" id="{783191A3-AB34-4BB2-8669-E53933AF7623}"/>
              </a:ext>
            </a:extLst>
          </p:cNvPr>
          <p:cNvSpPr>
            <a:spLocks xmlns:a="http://schemas.openxmlformats.org/drawingml/2006/main" noGrp="1"/>
          </p:cNvSpPr>
          <p:nvPr/>
        </p:nvSpPr>
        <p:spPr>
          <a:xfrm xmlns:a="http://schemas.openxmlformats.org/drawingml/2006/main">
            <a:off x="609600" y="55911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B62"/>
                </a:solidFill>
                <a:latin typeface="Arial"/>
                <a:ea typeface="Arial"/>
                <a:cs typeface="Arial"/>
              </a:defRPr>
            </a:pPr>
            <a:r>
              <a:rPr sz="1725" b="0">
                <a:solidFill>
                  <a:srgbClr val="526B62"/>
                </a:solidFill>
                <a:latin typeface="Arial"/>
                <a:ea typeface="Arial"/>
                <a:cs typeface="Arial"/>
              </a:rPr>
              <a:t>Preview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cf1a5a477ab424c"/>
          <a:stretch xmlns:a="http://schemas.openxmlformats.org/drawingml/2006/main"/>
        </p:blipFill>
        <p:spPr>
          <a:xfrm xmlns:a="http://schemas.openxmlformats.org/drawingml/2006/main">
            <a:off x="4191000" y="1872766"/>
            <a:ext cx="7391400" cy="4160219"/>
          </a:xfrm>
          <a:prstGeom xmlns:a="http://schemas.openxmlformats.org/drawingml/2006/main" prst="rect">
            <a:avLst/>
          </a:prstGeom>
        </p:spPr>
      </p:pic>
    </p:spTree>
    <p:extLst>
      <p:ext uri="{BB962C8B-B14F-4D97-AF65-F5344CB8AC3E}">
        <p14:creationId xmlns:p14="http://schemas.microsoft.com/office/powerpoint/2010/main" val="1822697761"/>
      </p:ext>
    </p:extLst>
  </p:cSld>
</p:sld>
</file>

<file path=ppt/slides/slide6.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F485C3-E4DE-41B0-8578-E81DDA66FFB7}"/>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DEMO: OWNER REVIEW</a:t>
            </a:r>
          </a:p>
        </p:txBody>
      </p:sp>
      <p:sp>
        <p:nvSpPr>
          <p:cNvPr id="2" name="">
            <a:extLst xmlns:a="http://schemas.openxmlformats.org/drawingml/2006/main">
              <a:ext uri="{FF2B5EF4-FFF2-40B4-BE49-F238E27FC236}">
                <a16:creationId xmlns:a16="http://schemas.microsoft.com/office/drawing/2014/main" id="{6A77D090-2D78-4098-AE3D-7B6076C485CE}"/>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A larger discrepancy</a:t>
            </a:r>
          </a:p>
        </p:txBody>
      </p:sp>
      <p:sp>
        <p:nvSpPr>
          <p:cNvPr id="3" name="">
            <a:extLst xmlns:a="http://schemas.openxmlformats.org/drawingml/2006/main">
              <a:ext uri="{FF2B5EF4-FFF2-40B4-BE49-F238E27FC236}">
                <a16:creationId xmlns:a16="http://schemas.microsoft.com/office/drawing/2014/main" id="{697F2CBC-9075-4E9D-AA73-0A3D1016020F}"/>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2E2F3AE3-8878-46F7-B4F6-BD75D31535E4}"/>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11A259F-B5FB-48F3-A7A1-C2F1A7BE2F65}"/>
              </a:ext>
            </a:extLst>
          </p:cNvPr>
          <p:cNvSpPr>
            <a:spLocks xmlns:a="http://schemas.openxmlformats.org/drawingml/2006/main" noGrp="1"/>
          </p:cNvSpPr>
          <p:nvPr/>
        </p:nvSpPr>
        <p:spPr>
          <a:xfrm xmlns:a="http://schemas.openxmlformats.org/drawingml/2006/main">
            <a:off x="609600" y="2171700"/>
            <a:ext cx="314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35 system</a:t>
            </a:r>
          </a:p>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28 counted</a:t>
            </a:r>
          </a:p>
        </p:txBody>
      </p:sp>
      <p:sp>
        <p:nvSpPr>
          <p:cNvPr id="6" name="">
            <a:extLst xmlns:a="http://schemas.openxmlformats.org/drawingml/2006/main">
              <a:ext uri="{FF2B5EF4-FFF2-40B4-BE49-F238E27FC236}">
                <a16:creationId xmlns:a16="http://schemas.microsoft.com/office/drawing/2014/main" id="{42C8CD3E-9C18-48B3-A00F-C57591D46D4F}"/>
              </a:ext>
            </a:extLst>
          </p:cNvPr>
          <p:cNvSpPr>
            <a:spLocks xmlns:a="http://schemas.openxmlformats.org/drawingml/2006/main" noGrp="1"/>
          </p:cNvSpPr>
          <p:nvPr/>
        </p:nvSpPr>
        <p:spPr>
          <a:xfrm xmlns:a="http://schemas.openxmlformats.org/drawingml/2006/main">
            <a:off x="609600" y="39719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87D62"/>
                </a:solidFill>
                <a:latin typeface="Arial"/>
                <a:ea typeface="Arial"/>
                <a:cs typeface="Arial"/>
              </a:defRPr>
            </a:pPr>
            <a:r>
              <a:rPr sz="2250" b="1">
                <a:solidFill>
                  <a:srgbClr val="087D62"/>
                </a:solidFill>
                <a:latin typeface="Arial"/>
                <a:ea typeface="Arial"/>
                <a:cs typeface="Arial"/>
              </a:rPr>
              <a:t>RM174.30</a:t>
            </a:r>
          </a:p>
          <a:p xmlns:a="http://schemas.openxmlformats.org/drawingml/2006/main">
            <a:pPr>
              <a:buNone/>
              <a:defRPr sz="2250" b="1">
                <a:solidFill>
                  <a:srgbClr val="087D62"/>
                </a:solidFill>
                <a:latin typeface="Arial"/>
                <a:ea typeface="Arial"/>
                <a:cs typeface="Arial"/>
              </a:defRPr>
            </a:pPr>
            <a:r>
              <a:rPr sz="2250" b="1">
                <a:solidFill>
                  <a:srgbClr val="087D62"/>
                </a:solidFill>
                <a:latin typeface="Arial"/>
                <a:ea typeface="Arial"/>
                <a:cs typeface="Arial"/>
              </a:rPr>
              <a:t>awaits the owner</a:t>
            </a:r>
          </a:p>
        </p:txBody>
      </p:sp>
      <p:sp>
        <p:nvSpPr>
          <p:cNvPr id="7" name="">
            <a:extLst xmlns:a="http://schemas.openxmlformats.org/drawingml/2006/main">
              <a:ext uri="{FF2B5EF4-FFF2-40B4-BE49-F238E27FC236}">
                <a16:creationId xmlns:a16="http://schemas.microsoft.com/office/drawing/2014/main" id="{B02CF56D-449B-4358-8EB4-D7D83D5BCC62}"/>
              </a:ext>
            </a:extLst>
          </p:cNvPr>
          <p:cNvSpPr>
            <a:spLocks xmlns:a="http://schemas.openxmlformats.org/drawingml/2006/main" noGrp="1"/>
          </p:cNvSpPr>
          <p:nvPr/>
        </p:nvSpPr>
        <p:spPr>
          <a:xfrm xmlns:a="http://schemas.openxmlformats.org/drawingml/2006/main">
            <a:off x="609600" y="550545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B62"/>
                </a:solidFill>
                <a:latin typeface="Arial"/>
                <a:ea typeface="Arial"/>
                <a:cs typeface="Arial"/>
              </a:defRPr>
            </a:pPr>
            <a:r>
              <a:rPr sz="1725" b="0">
                <a:solidFill>
                  <a:srgbClr val="526B62"/>
                </a:solidFill>
                <a:latin typeface="Arial"/>
                <a:ea typeface="Arial"/>
                <a:cs typeface="Arial"/>
              </a:rPr>
              <a:t>Stock stays unchanged while waiting</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96287db872f4c95"/>
          <a:stretch xmlns:a="http://schemas.openxmlformats.org/drawingml/2006/main"/>
        </p:blipFill>
        <p:spPr>
          <a:xfrm xmlns:a="http://schemas.openxmlformats.org/drawingml/2006/main">
            <a:off x="4191000" y="1874044"/>
            <a:ext cx="7391400" cy="4157663"/>
          </a:xfrm>
          <a:prstGeom xmlns:a="http://schemas.openxmlformats.org/drawingml/2006/main" prst="rect">
            <a:avLst/>
          </a:prstGeom>
        </p:spPr>
      </p:pic>
    </p:spTree>
    <p:extLst>
      <p:ext uri="{BB962C8B-B14F-4D97-AF65-F5344CB8AC3E}">
        <p14:creationId xmlns:p14="http://schemas.microsoft.com/office/powerpoint/2010/main" val="1861545096"/>
      </p:ext>
    </p:extLst>
  </p:cSld>
</p:sld>
</file>

<file path=ppt/slides/slide7.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367AF5-960F-4088-8B5C-DE57CF93AB84}"/>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IMPORT AND ONBOARDING</a:t>
            </a:r>
          </a:p>
        </p:txBody>
      </p:sp>
      <p:sp>
        <p:nvSpPr>
          <p:cNvPr id="2" name="">
            <a:extLst xmlns:a="http://schemas.openxmlformats.org/drawingml/2006/main">
              <a:ext uri="{FF2B5EF4-FFF2-40B4-BE49-F238E27FC236}">
                <a16:creationId xmlns:a16="http://schemas.microsoft.com/office/drawing/2014/main" id="{86C09431-BF39-4059-B3E6-2ACF6A7F583B}"/>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A starting point for existing spreadsheets</a:t>
            </a:r>
          </a:p>
        </p:txBody>
      </p:sp>
      <p:sp>
        <p:nvSpPr>
          <p:cNvPr id="3" name="">
            <a:extLst xmlns:a="http://schemas.openxmlformats.org/drawingml/2006/main">
              <a:ext uri="{FF2B5EF4-FFF2-40B4-BE49-F238E27FC236}">
                <a16:creationId xmlns:a16="http://schemas.microsoft.com/office/drawing/2014/main" id="{8B0A0535-4762-45E3-B62A-832AD5588D94}"/>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56B3B4FE-5402-4F73-BC8E-62CEF6D0511B}"/>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E00E3943-AC86-461B-B551-DCD2A3589E42}"/>
              </a:ext>
            </a:extLst>
          </p:cNvPr>
          <p:cNvSpPr>
            <a:spLocks xmlns:a="http://schemas.openxmlformats.org/drawingml/2006/main" noGrp="1"/>
          </p:cNvSpPr>
          <p:nvPr/>
        </p:nvSpPr>
        <p:spPr>
          <a:xfrm xmlns:a="http://schemas.openxmlformats.org/drawingml/2006/main">
            <a:off x="609600" y="21907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D62"/>
                </a:solidFill>
                <a:latin typeface="Arial"/>
                <a:ea typeface="Arial"/>
                <a:cs typeface="Arial"/>
              </a:defRPr>
            </a:pPr>
            <a:r>
              <a:rPr sz="2700" b="1">
                <a:solidFill>
                  <a:srgbClr val="087D62"/>
                </a:solidFill>
                <a:latin typeface="Arial"/>
                <a:ea typeface="Arial"/>
                <a:cs typeface="Arial"/>
              </a:rPr>
              <a:t>CSV and XLSX</a:t>
            </a:r>
          </a:p>
        </p:txBody>
      </p:sp>
      <p:sp>
        <p:nvSpPr>
          <p:cNvPr id="6" name="">
            <a:extLst xmlns:a="http://schemas.openxmlformats.org/drawingml/2006/main">
              <a:ext uri="{FF2B5EF4-FFF2-40B4-BE49-F238E27FC236}">
                <a16:creationId xmlns:a16="http://schemas.microsoft.com/office/drawing/2014/main" id="{428006AF-B5E6-4001-992C-4CCCE7C195DA}"/>
              </a:ext>
            </a:extLst>
          </p:cNvPr>
          <p:cNvSpPr>
            <a:spLocks xmlns:a="http://schemas.openxmlformats.org/drawingml/2006/main" noGrp="1"/>
          </p:cNvSpPr>
          <p:nvPr/>
        </p:nvSpPr>
        <p:spPr>
          <a:xfrm xmlns:a="http://schemas.openxmlformats.org/drawingml/2006/main">
            <a:off x="609600" y="3228975"/>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3B32"/>
                </a:solidFill>
                <a:latin typeface="Arial"/>
                <a:ea typeface="Arial"/>
                <a:cs typeface="Arial"/>
              </a:defRPr>
            </a:pPr>
            <a:r>
              <a:rPr sz="2325" b="1">
                <a:solidFill>
                  <a:srgbClr val="143B32"/>
                </a:solidFill>
                <a:latin typeface="Arial"/>
                <a:ea typeface="Arial"/>
                <a:cs typeface="Arial"/>
              </a:rPr>
              <a:t>Check the file first.</a:t>
            </a:r>
          </a:p>
          <a:p xmlns:a="http://schemas.openxmlformats.org/drawingml/2006/main">
            <a:pPr>
              <a:buNone/>
              <a:defRPr sz="2325" b="1">
                <a:solidFill>
                  <a:srgbClr val="143B32"/>
                </a:solidFill>
                <a:latin typeface="Arial"/>
                <a:ea typeface="Arial"/>
                <a:cs typeface="Arial"/>
              </a:defRPr>
            </a:pPr>
            <a:r>
              <a:rPr sz="2325" b="1">
                <a:solidFill>
                  <a:srgbClr val="143B32"/>
                </a:solidFill>
                <a:latin typeface="Arial"/>
                <a:ea typeface="Arial"/>
                <a:cs typeface="Arial"/>
              </a:rPr>
              <a:t>Confirm before saving.</a:t>
            </a:r>
          </a:p>
        </p:txBody>
      </p:sp>
      <p:sp>
        <p:nvSpPr>
          <p:cNvPr id="7" name="">
            <a:extLst xmlns:a="http://schemas.openxmlformats.org/drawingml/2006/main">
              <a:ext uri="{FF2B5EF4-FFF2-40B4-BE49-F238E27FC236}">
                <a16:creationId xmlns:a16="http://schemas.microsoft.com/office/drawing/2014/main" id="{6A2D962C-F5D1-421E-B190-E2BEA72D5E8D}"/>
              </a:ext>
            </a:extLst>
          </p:cNvPr>
          <p:cNvSpPr>
            <a:spLocks xmlns:a="http://schemas.openxmlformats.org/drawingml/2006/main" noGrp="1"/>
          </p:cNvSpPr>
          <p:nvPr/>
        </p:nvSpPr>
        <p:spPr>
          <a:xfrm xmlns:a="http://schemas.openxmlformats.org/drawingml/2006/main">
            <a:off x="609600" y="500062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B62"/>
                </a:solidFill>
                <a:latin typeface="Arial"/>
                <a:ea typeface="Arial"/>
                <a:cs typeface="Arial"/>
              </a:defRPr>
            </a:pPr>
            <a:r>
              <a:rPr sz="1875" b="0">
                <a:solidFill>
                  <a:srgbClr val="526B62"/>
                </a:solidFill>
                <a:latin typeface="Arial"/>
                <a:ea typeface="Arial"/>
                <a:cs typeface="Arial"/>
              </a:rPr>
              <a:t>New products only</a:t>
            </a:r>
          </a:p>
          <a:p xmlns:a="http://schemas.openxmlformats.org/drawingml/2006/main">
            <a:pPr>
              <a:buNone/>
              <a:defRPr sz="1875" b="0">
                <a:solidFill>
                  <a:srgbClr val="526B62"/>
                </a:solidFill>
                <a:latin typeface="Arial"/>
                <a:ea typeface="Arial"/>
                <a:cs typeface="Arial"/>
              </a:defRPr>
            </a:pPr>
            <a:r>
              <a:rPr sz="1875" b="0">
                <a:solidFill>
                  <a:srgbClr val="526B62"/>
                </a:solidFill>
                <a:latin typeface="Arial"/>
                <a:ea typeface="Arial"/>
                <a:cs typeface="Arial"/>
              </a:rPr>
              <a:t>No silent stock overwrite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0c18d50171b45c8"/>
          <a:stretch xmlns:a="http://schemas.openxmlformats.org/drawingml/2006/main"/>
        </p:blipFill>
        <p:spPr>
          <a:xfrm xmlns:a="http://schemas.openxmlformats.org/drawingml/2006/main">
            <a:off x="4191000" y="1874044"/>
            <a:ext cx="7391400" cy="4157663"/>
          </a:xfrm>
          <a:prstGeom xmlns:a="http://schemas.openxmlformats.org/drawingml/2006/main" prst="rect">
            <a:avLst/>
          </a:prstGeom>
        </p:spPr>
      </p:pic>
    </p:spTree>
    <p:extLst>
      <p:ext uri="{BB962C8B-B14F-4D97-AF65-F5344CB8AC3E}">
        <p14:creationId xmlns:p14="http://schemas.microsoft.com/office/powerpoint/2010/main" val="899740271"/>
      </p:ext>
    </p:extLst>
  </p:cSld>
</p:sld>
</file>

<file path=ppt/slides/slide8.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C59487-2B97-4D64-9855-A973BE61BB51}"/>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DELIVERY AND LIMITATIONS</a:t>
            </a:r>
          </a:p>
        </p:txBody>
      </p:sp>
      <p:sp>
        <p:nvSpPr>
          <p:cNvPr id="2" name="">
            <a:extLst xmlns:a="http://schemas.openxmlformats.org/drawingml/2006/main">
              <a:ext uri="{FF2B5EF4-FFF2-40B4-BE49-F238E27FC236}">
                <a16:creationId xmlns:a16="http://schemas.microsoft.com/office/drawing/2014/main" id="{ACDECBD0-D0C9-40B6-A3C6-39A385085628}"/>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Prototype implementation</a:t>
            </a:r>
          </a:p>
        </p:txBody>
      </p:sp>
      <p:sp>
        <p:nvSpPr>
          <p:cNvPr id="3" name="">
            <a:extLst xmlns:a="http://schemas.openxmlformats.org/drawingml/2006/main">
              <a:ext uri="{FF2B5EF4-FFF2-40B4-BE49-F238E27FC236}">
                <a16:creationId xmlns:a16="http://schemas.microsoft.com/office/drawing/2014/main" id="{35FC6188-1E7E-4A38-8D7C-0F9BD5680FED}"/>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2ACC251F-C960-4EB2-9366-F84B60DBFC57}"/>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4B0C774-3828-47DD-8C5E-3D99590FC052}"/>
              </a:ext>
            </a:extLst>
          </p:cNvPr>
          <p:cNvSpPr>
            <a:spLocks xmlns:a="http://schemas.openxmlformats.org/drawingml/2006/main" noGrp="1"/>
          </p:cNvSpPr>
          <p:nvPr/>
        </p:nvSpPr>
        <p:spPr>
          <a:xfrm xmlns:a="http://schemas.openxmlformats.org/drawingml/2006/main">
            <a:off x="609600" y="21336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React</a:t>
            </a:r>
          </a:p>
        </p:txBody>
      </p:sp>
      <p:sp>
        <p:nvSpPr>
          <p:cNvPr id="6" name="">
            <a:extLst xmlns:a="http://schemas.openxmlformats.org/drawingml/2006/main">
              <a:ext uri="{FF2B5EF4-FFF2-40B4-BE49-F238E27FC236}">
                <a16:creationId xmlns:a16="http://schemas.microsoft.com/office/drawing/2014/main" id="{ED5D2AF3-CAE1-4B72-BB9D-97A18B910F45}"/>
              </a:ext>
            </a:extLst>
          </p:cNvPr>
          <p:cNvSpPr>
            <a:spLocks xmlns:a="http://schemas.openxmlformats.org/drawingml/2006/main" noGrp="1"/>
          </p:cNvSpPr>
          <p:nvPr/>
        </p:nvSpPr>
        <p:spPr>
          <a:xfrm xmlns:a="http://schemas.openxmlformats.org/drawingml/2006/main">
            <a:off x="609600" y="282892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Interface for clerks and owners</a:t>
            </a:r>
          </a:p>
        </p:txBody>
      </p:sp>
      <p:sp>
        <p:nvSpPr>
          <p:cNvPr id="7" name="">
            <a:extLst xmlns:a="http://schemas.openxmlformats.org/drawingml/2006/main">
              <a:ext uri="{FF2B5EF4-FFF2-40B4-BE49-F238E27FC236}">
                <a16:creationId xmlns:a16="http://schemas.microsoft.com/office/drawing/2014/main" id="{01827DFB-6EA0-4958-8535-3F531D6DDF38}"/>
              </a:ext>
            </a:extLst>
          </p:cNvPr>
          <p:cNvSpPr>
            <a:spLocks xmlns:a="http://schemas.openxmlformats.org/drawingml/2006/main" noGrp="1"/>
          </p:cNvSpPr>
          <p:nvPr/>
        </p:nvSpPr>
        <p:spPr>
          <a:xfrm xmlns:a="http://schemas.openxmlformats.org/drawingml/2006/main">
            <a:off x="609600" y="3848100"/>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B32"/>
                </a:solidFill>
                <a:latin typeface="Arial"/>
                <a:ea typeface="Arial"/>
                <a:cs typeface="Arial"/>
              </a:defRPr>
            </a:pPr>
            <a:r>
              <a:rPr sz="3300" b="1">
                <a:solidFill>
                  <a:srgbClr val="143B32"/>
                </a:solidFill>
                <a:latin typeface="Arial"/>
                <a:ea typeface="Arial"/>
                <a:cs typeface="Arial"/>
              </a:rPr>
              <a:t>FastAPI + SQLite</a:t>
            </a:r>
          </a:p>
        </p:txBody>
      </p:sp>
      <p:sp>
        <p:nvSpPr>
          <p:cNvPr id="8" name="">
            <a:extLst xmlns:a="http://schemas.openxmlformats.org/drawingml/2006/main">
              <a:ext uri="{FF2B5EF4-FFF2-40B4-BE49-F238E27FC236}">
                <a16:creationId xmlns:a16="http://schemas.microsoft.com/office/drawing/2014/main" id="{D9274E23-1764-485A-8C5D-C74EEA0EF295}"/>
              </a:ext>
            </a:extLst>
          </p:cNvPr>
          <p:cNvSpPr>
            <a:spLocks xmlns:a="http://schemas.openxmlformats.org/drawingml/2006/main" noGrp="1"/>
          </p:cNvSpPr>
          <p:nvPr/>
        </p:nvSpPr>
        <p:spPr>
          <a:xfrm xmlns:a="http://schemas.openxmlformats.org/drawingml/2006/main">
            <a:off x="609600" y="454342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Stock updates with an audit trail</a:t>
            </a:r>
          </a:p>
        </p:txBody>
      </p:sp>
      <p:sp>
        <p:nvSpPr>
          <p:cNvPr id="9" name="">
            <a:extLst xmlns:a="http://schemas.openxmlformats.org/drawingml/2006/main">
              <a:ext uri="{FF2B5EF4-FFF2-40B4-BE49-F238E27FC236}">
                <a16:creationId xmlns:a16="http://schemas.microsoft.com/office/drawing/2014/main" id="{B748CDD6-80A0-4D3D-B7A7-ED034849D93B}"/>
              </a:ext>
            </a:extLst>
          </p:cNvPr>
          <p:cNvSpPr>
            <a:spLocks xmlns:a="http://schemas.openxmlformats.org/drawingml/2006/main" noGrp="1"/>
          </p:cNvSpPr>
          <p:nvPr/>
        </p:nvSpPr>
        <p:spPr>
          <a:xfrm xmlns:a="http://schemas.openxmlformats.org/drawingml/2006/main">
            <a:off x="6667500" y="213360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87D62"/>
                </a:solidFill>
                <a:latin typeface="Arial"/>
                <a:ea typeface="Arial"/>
                <a:cs typeface="Arial"/>
              </a:defRPr>
            </a:pPr>
            <a:r>
              <a:rPr sz="2550" b="1">
                <a:solidFill>
                  <a:srgbClr val="087D62"/>
                </a:solidFill>
                <a:latin typeface="Arial"/>
                <a:ea typeface="Arial"/>
                <a:cs typeface="Arial"/>
              </a:rPr>
              <a:t>57 backend tests passed</a:t>
            </a:r>
          </a:p>
        </p:txBody>
      </p:sp>
      <p:sp>
        <p:nvSpPr>
          <p:cNvPr id="10" name="">
            <a:extLst xmlns:a="http://schemas.openxmlformats.org/drawingml/2006/main">
              <a:ext uri="{FF2B5EF4-FFF2-40B4-BE49-F238E27FC236}">
                <a16:creationId xmlns:a16="http://schemas.microsoft.com/office/drawing/2014/main" id="{09017DC8-FF60-444D-B631-D6CFCB9AE368}"/>
              </a:ext>
            </a:extLst>
          </p:cNvPr>
          <p:cNvSpPr>
            <a:spLocks xmlns:a="http://schemas.openxmlformats.org/drawingml/2006/main" noGrp="1"/>
          </p:cNvSpPr>
          <p:nvPr/>
        </p:nvSpPr>
        <p:spPr>
          <a:xfrm xmlns:a="http://schemas.openxmlformats.org/drawingml/2006/main">
            <a:off x="6667500" y="32289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3B32"/>
                </a:solidFill>
                <a:latin typeface="Arial"/>
                <a:ea typeface="Arial"/>
                <a:cs typeface="Arial"/>
              </a:defRPr>
            </a:pPr>
            <a:r>
              <a:rPr sz="2025" b="0">
                <a:solidFill>
                  <a:srgbClr val="143B32"/>
                </a:solidFill>
                <a:latin typeface="Arial"/>
                <a:ea typeface="Arial"/>
                <a:cs typeface="Arial"/>
              </a:rPr>
              <a:t>Live prototype on Replit</a:t>
            </a:r>
          </a:p>
          <a:p xmlns:a="http://schemas.openxmlformats.org/drawingml/2006/main">
            <a:pPr>
              <a:buNone/>
              <a:defRPr sz="2025" b="0">
                <a:solidFill>
                  <a:srgbClr val="143B32"/>
                </a:solidFill>
                <a:latin typeface="Arial"/>
                <a:ea typeface="Arial"/>
                <a:cs typeface="Arial"/>
              </a:defRPr>
            </a:pPr>
            <a:r>
              <a:rPr sz="2025" b="0">
                <a:solidFill>
                  <a:srgbClr val="143B32"/>
                </a:solidFill>
                <a:latin typeface="Arial"/>
                <a:ea typeface="Arial"/>
                <a:cs typeface="Arial"/>
              </a:rPr>
              <a:t>React interface and FastAPI</a:t>
            </a:r>
          </a:p>
        </p:txBody>
      </p:sp>
      <p:sp>
        <p:nvSpPr>
          <p:cNvPr id="11" name="">
            <a:extLst xmlns:a="http://schemas.openxmlformats.org/drawingml/2006/main">
              <a:ext uri="{FF2B5EF4-FFF2-40B4-BE49-F238E27FC236}">
                <a16:creationId xmlns:a16="http://schemas.microsoft.com/office/drawing/2014/main" id="{CD55CE68-258B-445C-9998-B63950A9DD54}"/>
              </a:ext>
            </a:extLst>
          </p:cNvPr>
          <p:cNvSpPr>
            <a:spLocks xmlns:a="http://schemas.openxmlformats.org/drawingml/2006/main" noGrp="1"/>
          </p:cNvSpPr>
          <p:nvPr/>
        </p:nvSpPr>
        <p:spPr>
          <a:xfrm xmlns:a="http://schemas.openxmlformats.org/drawingml/2006/main">
            <a:off x="6667500" y="49149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B62"/>
                </a:solidFill>
                <a:latin typeface="Arial"/>
                <a:ea typeface="Arial"/>
                <a:cs typeface="Arial"/>
              </a:defRPr>
            </a:pPr>
            <a:r>
              <a:rPr sz="1875" b="0">
                <a:solidFill>
                  <a:srgbClr val="526B62"/>
                </a:solidFill>
                <a:latin typeface="Arial"/>
                <a:ea typeface="Arial"/>
                <a:cs typeface="Arial"/>
              </a:rPr>
              <a:t>Rule-based automation. No GPU.</a:t>
            </a:r>
          </a:p>
          <a:p xmlns:a="http://schemas.openxmlformats.org/drawingml/2006/main">
            <a:pPr>
              <a:buNone/>
              <a:defRPr sz="1875" b="0">
                <a:solidFill>
                  <a:srgbClr val="526B62"/>
                </a:solidFill>
                <a:latin typeface="Arial"/>
                <a:ea typeface="Arial"/>
                <a:cs typeface="Arial"/>
              </a:defRPr>
            </a:pPr>
            <a:r>
              <a:rPr sz="1875" b="0">
                <a:solidFill>
                  <a:srgbClr val="526B62"/>
                </a:solidFill>
                <a:latin typeface="Arial"/>
                <a:ea typeface="Arial"/>
                <a:cs typeface="Arial"/>
              </a:rPr>
              <a:t>Demo roles and Orbyte sync are simulated.</a:t>
            </a:r>
          </a:p>
        </p:txBody>
      </p:sp>
    </p:spTree>
    <p:extLst>
      <p:ext uri="{BB962C8B-B14F-4D97-AF65-F5344CB8AC3E}">
        <p14:creationId xmlns:p14="http://schemas.microsoft.com/office/powerpoint/2010/main" val="1278150190"/>
      </p:ext>
    </p:extLst>
  </p:cSld>
</p:sld>
</file>

<file path=ppt/slides/slide9.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0EB376B-8B21-4372-B729-EEB46D2E19A3}"/>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87D62"/>
                </a:solidFill>
                <a:latin typeface="Arial"/>
                <a:ea typeface="Arial"/>
                <a:cs typeface="Arial"/>
              </a:defRPr>
            </a:pPr>
            <a:r>
              <a:rPr sz="1350" b="1">
                <a:solidFill>
                  <a:srgbClr val="087D62"/>
                </a:solidFill>
                <a:latin typeface="Arial"/>
                <a:ea typeface="Arial"/>
                <a:cs typeface="Arial"/>
              </a:rPr>
              <a:t>IMPACT HYPOTHESIS</a:t>
            </a:r>
          </a:p>
        </p:txBody>
      </p:sp>
      <p:sp>
        <p:nvSpPr>
          <p:cNvPr id="2" name="">
            <a:extLst xmlns:a="http://schemas.openxmlformats.org/drawingml/2006/main">
              <a:ext uri="{FF2B5EF4-FFF2-40B4-BE49-F238E27FC236}">
                <a16:creationId xmlns:a16="http://schemas.microsoft.com/office/drawing/2014/main" id="{6CB530FF-7D71-4B4F-B898-5373D4E45F9B}"/>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43B32"/>
                </a:solidFill>
                <a:latin typeface="Arial"/>
                <a:ea typeface="Arial"/>
                <a:cs typeface="Arial"/>
              </a:defRPr>
            </a:pPr>
            <a:r>
              <a:rPr sz="3600" b="1">
                <a:solidFill>
                  <a:srgbClr val="143B32"/>
                </a:solidFill>
                <a:latin typeface="Arial"/>
                <a:ea typeface="Arial"/>
                <a:cs typeface="Arial"/>
              </a:rPr>
              <a:t>Expected value and pilot measures</a:t>
            </a:r>
          </a:p>
        </p:txBody>
      </p:sp>
      <p:sp>
        <p:nvSpPr>
          <p:cNvPr id="3" name="">
            <a:extLst xmlns:a="http://schemas.openxmlformats.org/drawingml/2006/main">
              <a:ext uri="{FF2B5EF4-FFF2-40B4-BE49-F238E27FC236}">
                <a16:creationId xmlns:a16="http://schemas.microsoft.com/office/drawing/2014/main" id="{C46C9E31-CF9F-4B75-97AD-E6E7252AF5F7}"/>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Hackstreet Boys</a:t>
            </a:r>
          </a:p>
        </p:txBody>
      </p:sp>
      <p:sp>
        <p:nvSpPr>
          <p:cNvPr id="4" name="">
            <a:extLst xmlns:a="http://schemas.openxmlformats.org/drawingml/2006/main">
              <a:ext uri="{FF2B5EF4-FFF2-40B4-BE49-F238E27FC236}">
                <a16:creationId xmlns:a16="http://schemas.microsoft.com/office/drawing/2014/main" id="{9E6EB1D4-5F66-47D9-A850-A7CA10A2BD75}"/>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B62"/>
                </a:solidFill>
                <a:latin typeface="Arial"/>
                <a:ea typeface="Arial"/>
                <a:cs typeface="Arial"/>
              </a:defRPr>
            </a:pPr>
            <a:r>
              <a:rPr sz="1200" b="0">
                <a:solidFill>
                  <a:srgbClr val="526B6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EDA688B-35E0-4E75-8CF3-78F4B93179AB}"/>
              </a:ext>
            </a:extLst>
          </p:cNvPr>
          <p:cNvSpPr>
            <a:spLocks xmlns:a="http://schemas.openxmlformats.org/drawingml/2006/main" noGrp="1"/>
          </p:cNvSpPr>
          <p:nvPr/>
        </p:nvSpPr>
        <p:spPr>
          <a:xfrm xmlns:a="http://schemas.openxmlformats.org/drawingml/2006/main">
            <a:off x="609600" y="20764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43B32"/>
                </a:solidFill>
                <a:latin typeface="Arial"/>
                <a:ea typeface="Arial"/>
                <a:cs typeface="Arial"/>
              </a:defRPr>
            </a:pPr>
            <a:r>
              <a:rPr sz="3225" b="1">
                <a:solidFill>
                  <a:srgbClr val="143B32"/>
                </a:solidFill>
                <a:latin typeface="Arial"/>
                <a:ea typeface="Arial"/>
                <a:cs typeface="Arial"/>
              </a:rPr>
              <a:t>Less manual follow-up</a:t>
            </a:r>
          </a:p>
          <a:p xmlns:a="http://schemas.openxmlformats.org/drawingml/2006/main">
            <a:pPr>
              <a:buNone/>
              <a:defRPr sz="3225" b="1">
                <a:solidFill>
                  <a:srgbClr val="143B32"/>
                </a:solidFill>
                <a:latin typeface="Arial"/>
                <a:ea typeface="Arial"/>
                <a:cs typeface="Arial"/>
              </a:defRPr>
            </a:pPr>
            <a:r>
              <a:rPr sz="3225" b="1">
                <a:solidFill>
                  <a:srgbClr val="143B32"/>
                </a:solidFill>
                <a:latin typeface="Arial"/>
                <a:ea typeface="Arial"/>
                <a:cs typeface="Arial"/>
              </a:rPr>
              <a:t>A traceable stock correction</a:t>
            </a:r>
          </a:p>
        </p:txBody>
      </p:sp>
      <p:sp>
        <p:nvSpPr>
          <p:cNvPr id="6" name="">
            <a:extLst xmlns:a="http://schemas.openxmlformats.org/drawingml/2006/main">
              <a:ext uri="{FF2B5EF4-FFF2-40B4-BE49-F238E27FC236}">
                <a16:creationId xmlns:a16="http://schemas.microsoft.com/office/drawing/2014/main" id="{61BBDD7B-CF23-46A6-B0E1-58269DB9800D}"/>
              </a:ext>
            </a:extLst>
          </p:cNvPr>
          <p:cNvSpPr>
            <a:spLocks xmlns:a="http://schemas.openxmlformats.org/drawingml/2006/main" noGrp="1"/>
          </p:cNvSpPr>
          <p:nvPr/>
        </p:nvSpPr>
        <p:spPr>
          <a:xfrm xmlns:a="http://schemas.openxmlformats.org/drawingml/2006/main">
            <a:off x="609600" y="390525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87D62"/>
                </a:solidFill>
                <a:latin typeface="Arial"/>
                <a:ea typeface="Arial"/>
                <a:cs typeface="Arial"/>
              </a:defRPr>
            </a:pPr>
            <a:r>
              <a:rPr sz="2325" b="1">
                <a:solidFill>
                  <a:srgbClr val="087D62"/>
                </a:solidFill>
                <a:latin typeface="Arial"/>
                <a:ea typeface="Arial"/>
                <a:cs typeface="Arial"/>
              </a:rPr>
              <a:t>Pilot measures</a:t>
            </a:r>
          </a:p>
        </p:txBody>
      </p:sp>
      <p:sp>
        <p:nvSpPr>
          <p:cNvPr id="7" name="">
            <a:extLst xmlns:a="http://schemas.openxmlformats.org/drawingml/2006/main">
              <a:ext uri="{FF2B5EF4-FFF2-40B4-BE49-F238E27FC236}">
                <a16:creationId xmlns:a16="http://schemas.microsoft.com/office/drawing/2014/main" id="{A5ADFF77-F553-4375-B8D4-B332CFB9F19B}"/>
              </a:ext>
            </a:extLst>
          </p:cNvPr>
          <p:cNvSpPr>
            <a:spLocks xmlns:a="http://schemas.openxmlformats.org/drawingml/2006/main" noGrp="1"/>
          </p:cNvSpPr>
          <p:nvPr/>
        </p:nvSpPr>
        <p:spPr>
          <a:xfrm xmlns:a="http://schemas.openxmlformats.org/drawingml/2006/main">
            <a:off x="609600" y="4572000"/>
            <a:ext cx="5810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Time to resolve a discrepancy</a:t>
            </a:r>
          </a:p>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Unresolved requests</a:t>
            </a:r>
          </a:p>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Decisions with a recorded reason</a:t>
            </a:r>
          </a:p>
        </p:txBody>
      </p:sp>
      <p:sp>
        <p:nvSpPr>
          <p:cNvPr id="8" name="">
            <a:extLst xmlns:a="http://schemas.openxmlformats.org/drawingml/2006/main">
              <a:ext uri="{FF2B5EF4-FFF2-40B4-BE49-F238E27FC236}">
                <a16:creationId xmlns:a16="http://schemas.microsoft.com/office/drawing/2014/main" id="{E894CED1-8CB3-4BC8-B69C-E08A5A841729}"/>
              </a:ext>
            </a:extLst>
          </p:cNvPr>
          <p:cNvSpPr>
            <a:spLocks xmlns:a="http://schemas.openxmlformats.org/drawingml/2006/main" noGrp="1"/>
          </p:cNvSpPr>
          <p:nvPr/>
        </p:nvSpPr>
        <p:spPr>
          <a:xfrm xmlns:a="http://schemas.openxmlformats.org/drawingml/2006/main">
            <a:off x="7524750" y="390525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87D62"/>
                </a:solidFill>
                <a:latin typeface="Arial"/>
                <a:ea typeface="Arial"/>
                <a:cs typeface="Arial"/>
              </a:defRPr>
            </a:pPr>
            <a:r>
              <a:rPr sz="2325" b="1">
                <a:solidFill>
                  <a:srgbClr val="087D62"/>
                </a:solidFill>
                <a:latin typeface="Arial"/>
                <a:ea typeface="Arial"/>
                <a:cs typeface="Arial"/>
              </a:rPr>
              <a:t>SDG 8</a:t>
            </a:r>
          </a:p>
        </p:txBody>
      </p:sp>
      <p:sp>
        <p:nvSpPr>
          <p:cNvPr id="9" name="">
            <a:extLst xmlns:a="http://schemas.openxmlformats.org/drawingml/2006/main">
              <a:ext uri="{FF2B5EF4-FFF2-40B4-BE49-F238E27FC236}">
                <a16:creationId xmlns:a16="http://schemas.microsoft.com/office/drawing/2014/main" id="{B1F97932-60EE-4541-8FAB-64C4A75C03C1}"/>
              </a:ext>
            </a:extLst>
          </p:cNvPr>
          <p:cNvSpPr>
            <a:spLocks xmlns:a="http://schemas.openxmlformats.org/drawingml/2006/main" noGrp="1"/>
          </p:cNvSpPr>
          <p:nvPr/>
        </p:nvSpPr>
        <p:spPr>
          <a:xfrm xmlns:a="http://schemas.openxmlformats.org/drawingml/2006/main">
            <a:off x="7524750" y="4572000"/>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Productivity and support</a:t>
            </a:r>
          </a:p>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for small businesses</a:t>
            </a:r>
          </a:p>
          <a:p xmlns:a="http://schemas.openxmlformats.org/drawingml/2006/main">
            <a:pPr>
              <a:buNone/>
              <a:defRPr sz="2025" b="0">
                <a:solidFill>
                  <a:srgbClr val="526B62"/>
                </a:solidFill>
                <a:latin typeface="Arial"/>
                <a:ea typeface="Arial"/>
                <a:cs typeface="Arial"/>
              </a:defRPr>
            </a:pPr>
            <a:r>
              <a:rPr sz="2025" b="0">
                <a:solidFill>
                  <a:srgbClr val="526B62"/>
                </a:solidFill>
                <a:latin typeface="Arial"/>
                <a:ea typeface="Arial"/>
                <a:cs typeface="Arial"/>
              </a:rPr>
              <a:t>Targets 8.2 and 8.3</a:t>
            </a:r>
          </a:p>
        </p:txBody>
      </p:sp>
    </p:spTree>
    <p:extLst>
      <p:ext uri="{BB962C8B-B14F-4D97-AF65-F5344CB8AC3E}">
        <p14:creationId xmlns:p14="http://schemas.microsoft.com/office/powerpoint/2010/main" val="584494774"/>
      </p:ext>
    </p:extLst>
  </p:cSld>
</p:sld>
</file>

<file path=ppt/slides/slide10.xml><?xml version="1.0" encoding="utf-8"?>
<p:sld xmlns:p="http://schemas.openxmlformats.org/presentationml/2006/main">
  <p:cSld>
    <p:bg>
      <p:bgPr>
        <a:solidFill xmlns:a="http://schemas.openxmlformats.org/drawingml/2006/main">
          <a:srgbClr val="143B3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DBF0D3-7372-4A85-B1E0-F714169D42F7}"/>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D0E5D9"/>
                </a:solidFill>
                <a:latin typeface="Arial"/>
                <a:ea typeface="Arial"/>
                <a:cs typeface="Arial"/>
              </a:defRPr>
            </a:pPr>
            <a:r>
              <a:rPr sz="1350" b="1">
                <a:solidFill>
                  <a:srgbClr val="D0E5D9"/>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EA23CCF8-0179-40EA-8D68-45AAE631097C}"/>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D0E5D9"/>
                </a:solidFill>
                <a:latin typeface="Arial"/>
                <a:ea typeface="Arial"/>
                <a:cs typeface="Arial"/>
              </a:defRPr>
            </a:pPr>
            <a:r>
              <a:rPr sz="1200" b="0">
                <a:solidFill>
                  <a:srgbClr val="D0E5D9"/>
                </a:solidFill>
                <a:latin typeface="Arial"/>
                <a:ea typeface="Arial"/>
                <a:cs typeface="Arial"/>
              </a:rPr>
              <a:t>Hackstreet Boys</a:t>
            </a:r>
          </a:p>
        </p:txBody>
      </p:sp>
      <p:sp>
        <p:nvSpPr>
          <p:cNvPr id="3" name="">
            <a:extLst xmlns:a="http://schemas.openxmlformats.org/drawingml/2006/main">
              <a:ext uri="{FF2B5EF4-FFF2-40B4-BE49-F238E27FC236}">
                <a16:creationId xmlns:a16="http://schemas.microsoft.com/office/drawing/2014/main" id="{00858611-04A7-4E41-8BCE-F6D26BA1B4EA}"/>
              </a:ext>
            </a:extLst>
          </p:cNvPr>
          <p:cNvSpPr>
            <a:spLocks xmlns:a="http://schemas.openxmlformats.org/drawingml/2006/main" noGrp="1"/>
          </p:cNvSpPr>
          <p:nvPr/>
        </p:nvSpPr>
        <p:spPr>
          <a:xfrm xmlns:a="http://schemas.openxmlformats.org/drawingml/2006/main">
            <a:off x="11096625"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D0E5D9"/>
                </a:solidFill>
                <a:latin typeface="Arial"/>
                <a:ea typeface="Arial"/>
                <a:cs typeface="Arial"/>
              </a:defRPr>
            </a:pPr>
            <a:r>
              <a:rPr sz="1200" b="0">
                <a:solidFill>
                  <a:srgbClr val="D0E5D9"/>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8967BAD7-C497-4F33-AC48-87EB6817C0EE}"/>
              </a:ext>
            </a:extLst>
          </p:cNvPr>
          <p:cNvSpPr>
            <a:spLocks xmlns:a="http://schemas.openxmlformats.org/drawingml/2006/main" noGrp="1"/>
          </p:cNvSpPr>
          <p:nvPr/>
        </p:nvSpPr>
        <p:spPr>
          <a:xfrm xmlns:a="http://schemas.openxmlformats.org/drawingml/2006/main">
            <a:off x="609600" y="14478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Stock Manager</a:t>
            </a:r>
          </a:p>
        </p:txBody>
      </p:sp>
      <p:sp>
        <p:nvSpPr>
          <p:cNvPr id="5" name="">
            <a:extLst xmlns:a="http://schemas.openxmlformats.org/drawingml/2006/main">
              <a:ext uri="{FF2B5EF4-FFF2-40B4-BE49-F238E27FC236}">
                <a16:creationId xmlns:a16="http://schemas.microsoft.com/office/drawing/2014/main" id="{4D6AAED1-4CBF-445F-9C26-F75D9D5475A3}"/>
              </a:ext>
            </a:extLst>
          </p:cNvPr>
          <p:cNvSpPr>
            <a:spLocks xmlns:a="http://schemas.openxmlformats.org/drawingml/2006/main" noGrp="1"/>
          </p:cNvSpPr>
          <p:nvPr/>
        </p:nvSpPr>
        <p:spPr>
          <a:xfrm xmlns:a="http://schemas.openxmlformats.org/drawingml/2006/main">
            <a:off x="647700" y="29527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D0E5D9"/>
                </a:solidFill>
                <a:latin typeface="Arial"/>
                <a:ea typeface="Arial"/>
                <a:cs typeface="Arial"/>
              </a:defRPr>
            </a:pPr>
            <a:r>
              <a:rPr sz="3450" b="0">
                <a:solidFill>
                  <a:srgbClr val="D0E5D9"/>
                </a:solidFill>
                <a:latin typeface="Arial"/>
                <a:ea typeface="Arial"/>
                <a:cs typeface="Arial"/>
              </a:rPr>
              <a:t>Next: shop testing and</a:t>
            </a:r>
          </a:p>
          <a:p xmlns:a="http://schemas.openxmlformats.org/drawingml/2006/main">
            <a:pPr>
              <a:buNone/>
              <a:defRPr sz="3450" b="0">
                <a:solidFill>
                  <a:srgbClr val="D0E5D9"/>
                </a:solidFill>
                <a:latin typeface="Arial"/>
                <a:ea typeface="Arial"/>
                <a:cs typeface="Arial"/>
              </a:defRPr>
            </a:pPr>
            <a:r>
              <a:rPr sz="3450" b="0">
                <a:solidFill>
                  <a:srgbClr val="D0E5D9"/>
                </a:solidFill>
                <a:latin typeface="Arial"/>
                <a:ea typeface="Arial"/>
                <a:cs typeface="Arial"/>
              </a:rPr>
              <a:t>owner feedback</a:t>
            </a:r>
          </a:p>
        </p:txBody>
      </p:sp>
      <p:sp>
        <p:nvSpPr>
          <p:cNvPr id="6" name="">
            <a:extLst xmlns:a="http://schemas.openxmlformats.org/drawingml/2006/main">
              <a:ext uri="{FF2B5EF4-FFF2-40B4-BE49-F238E27FC236}">
                <a16:creationId xmlns:a16="http://schemas.microsoft.com/office/drawing/2014/main" id="{2C4E49B8-65D1-4B63-BC20-AC04C3752DA8}"/>
              </a:ext>
            </a:extLst>
          </p:cNvPr>
          <p:cNvSpPr>
            <a:spLocks xmlns:a="http://schemas.openxmlformats.org/drawingml/2006/main" noGrp="1"/>
          </p:cNvSpPr>
          <p:nvPr/>
        </p:nvSpPr>
        <p:spPr>
          <a:xfrm xmlns:a="http://schemas.openxmlformats.org/drawingml/2006/main">
            <a:off x="647700" y="5067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github.com/Adilkrab/Hackstreet-Boys</a:t>
            </a:r>
          </a:p>
        </p:txBody>
      </p:sp>
      <p:sp>
        <p:nvSpPr>
          <p:cNvPr id="7" name="">
            <a:extLst xmlns:a="http://schemas.openxmlformats.org/drawingml/2006/main">
              <a:ext uri="{FF2B5EF4-FFF2-40B4-BE49-F238E27FC236}">
                <a16:creationId xmlns:a16="http://schemas.microsoft.com/office/drawing/2014/main" id="{E1C20797-9ABD-41E8-9938-AE42BA299E86}"/>
              </a:ext>
            </a:extLst>
          </p:cNvPr>
          <p:cNvSpPr>
            <a:spLocks xmlns:a="http://schemas.openxmlformats.org/drawingml/2006/main" noGrp="1"/>
          </p:cNvSpPr>
          <p:nvPr/>
        </p:nvSpPr>
        <p:spPr>
          <a:xfrm xmlns:a="http://schemas.openxmlformats.org/drawingml/2006/main">
            <a:off x="647700" y="56959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D0E5D9"/>
                </a:solidFill>
                <a:latin typeface="Arial"/>
                <a:ea typeface="Arial"/>
                <a:cs typeface="Arial"/>
              </a:defRPr>
            </a:pPr>
            <a:r>
              <a:rPr sz="1875" b="0">
                <a:solidFill>
                  <a:srgbClr val="D0E5D9"/>
                </a:solidFill>
                <a:latin typeface="Arial"/>
                <a:ea typeface="Arial"/>
                <a:cs typeface="Arial"/>
              </a:rPr>
              <a:t>Live demo: sme-inventory-workflow-backend.replit.app/team-preview/</a:t>
            </a:r>
          </a:p>
        </p:txBody>
      </p:sp>
    </p:spTree>
    <p:extLst>
      <p:ext uri="{BB962C8B-B14F-4D97-AF65-F5344CB8AC3E}">
        <p14:creationId xmlns:p14="http://schemas.microsoft.com/office/powerpoint/2010/main" val="1377960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2026-10-24T11:20:39.6050000Z</dcterms:created>
  <dcterms:modified xsi:type="dcterms:W3CDTF">2026-10-24T11:20:39.6050000Z</dcterms:modified>
</coreProperties>
</file>